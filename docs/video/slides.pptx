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section 1 · 0:00–0:12 · 12 s on screen
Narration (script draft 2):
A fire starts inside a spacecraft. Without gravity, flames look and act differently. So how do you know if something will burn up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section 2 · 0:12–0:42 · 30 s on screen
Narration (script draft 2):
For centuries, sea explorers have found their way by looking up at Polaris, the North Star. We, Team Polaris, are building an interactive tool that gives space explorers direction on fire safety. From Dhaka, Bangladesh, we have Shamimul Shimul, team lead. Soleman Hossain, product lead. Iman Ahamad, computer vision developer. Sara Rahman, scientific researcher. Sihab Mahmud, tech development and design. And Faisal Mahmud Abir, AI engineer.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section 2 · 0:42–0:44 · 2 s on screen
No narration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section 3 · 0:44–1:02 · 18 s on screen
Narration (script draft 2):
In a spacecraft, a fire has nowhere to go, and neither does the crew. And gravity changes how things burn. In orbit, acrylic rods kept burning at 17% oxygen. On the ground, the same rods couldn’t stay lit at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section 3 · 1:02–1:18 · 16 s on screen
Narration (script draft 2):
The next homes in space are different again. A Moon base has one-sixth of Earth’s gravity, and NASA has studied cabin air with 34% oxygen. So an engineer has to ask: does any real test cover my cabin?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section 4 · 1:18–1:29 · 11 s on screen
Narration (script draft 2):
Our challenge is Flame in Freefall. It asks for a tool that summarizes, ranks and interprets NASA’s microgravity fire findings, for human space exploration.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section 5 · 1:29–1:42 · 13 s on screen
Narration (script draft 2):
Our answer is Will It Burn? You ask a question in plain English, like: will acrylic burn on the Space Station? We check it against NASA’s BASS-II fire tests, flown on the Station.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section 5 · 1:42–1:54 · 12 s on screen
Narration (script draft 2):
The answer: Burned. All 20 acrylic sheets burned, for 6 to 31 minutes each. Tap any number, and you see the NASA table row it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section 5 · 1:54–2:09 · 15 s on screen
Narration (script draft 2):
Now ask about a Moon base, in the air NASA studied. The answer flips to No data. No test felt lunar gravity, and the tests stopped at about 22% oxygen.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section 6 · 2:09–2:14 · 5 s on screen
Narration (script draft 2):
It summarizes each answer in a few key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section 6 · 2:14–2:22 · 8 s on screen
Narration (script draft 2):
It ranks what the tests agree on: with faster airflow, flames spread faster in 29 of 30 paired readings.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section 6 · 2:22–2:29 · 7 s on screen
Narration (script draft 2):
And it interprets, by putting NASA’s eight fire-response steps for the Station next to the test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section 7 · 2:29–2:38 · 9 s on screen
Narration (script draft 2):
Next, what we’re building. These are planned, not finished. ChatBot: ask in plain English. Every answer quotes the NASA row it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section 7 · 2:38–2:44 · 6 s on screen
Narration (script draft 2):
Analysis tool: pick one variable, like airflow, and chart it across the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section 7 · 2:44–2:50 · 6 s on screen
Narration (script draft 2):
Comparison tool: set two experiments side by side and see what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section 7 · 2:50–2:56 · 6 s on screen
Narration (script draft 2):
FlameViz: watch a flame spread at the speed NASA actually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section 7 · 2:56–3:04 · 8 s on screen
Narration (script draft 2):
More to come, as we add more NASA experiments, like Saffire. One goal: make NASA’s fire evidence easy to explore, compare and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section 8 · 3:04–3:17 · 13 s on screen
Narration (script draft 2):
A gap is an answer too. Each No data card says what’s missing, and where that data may exist, like NASA’s Saffire experiments. That points to which test to fly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section 8 · 3:17–3:25 · 8 s on screen
Narration (script draft 2):
And no AI ever writes a number or a verdict. Every number links back to its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section 9 · 3:25–3:34 · 9 s on screen
Narration (script draft 2):
Will It Burn?, by Team Polaris, for NASA Space Apps 2026: Flame in Freefall.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section 9 · 3:34–3:40 · 6 s on screen
No narration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hero-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ero">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3.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457200" y="457200"/>
            <a:ext cx="11277295" cy="5943600"/>
          </a:xfrm>
          <a:prstGeom prst="rect">
            <a:avLst/>
          </a:prstGeom>
          <a:solidFill>
            <a:srgbClr val="FF4FD8">
              <a:alpha val="4000"/>
            </a:srgbClr>
          </a:solidFill>
          <a:ln w="31750">
            <a:solidFill>
              <a:srgbClr val="FF4FD8"/>
            </a:solidFill>
            <a:prstDash val="dash"/>
          </a:ln>
        </p:spPr>
      </p:sp>
      <p:sp>
        <p:nvSpPr>
          <p:cNvPr id="3" name="Text 1"/>
          <p:cNvSpPr/>
          <p:nvPr/>
        </p:nvSpPr>
        <p:spPr>
          <a:xfrm>
            <a:off x="548640" y="2148840"/>
            <a:ext cx="11094415" cy="1920240"/>
          </a:xfrm>
          <a:prstGeom prst="rect">
            <a:avLst/>
          </a:prstGeom>
          <a:noFill/>
          <a:ln/>
        </p:spPr>
        <p:txBody>
          <a:bodyPr wrap="square" lIns="0" tIns="0" rIns="0" bIns="0" rtlCol="0" anchor="ctr"/>
          <a:lstStyle/>
          <a:p>
            <a:pPr algn="ctr" indent="0" marL="0">
              <a:buNone/>
            </a:pPr>
            <a:r>
              <a:rPr lang="en-US" sz="12000" b="1" dirty="0">
                <a:solidFill>
                  <a:srgbClr val="F5F5F7"/>
                </a:solidFill>
                <a:latin typeface="Arial" pitchFamily="34" charset="0"/>
                <a:ea typeface="Arial" pitchFamily="34" charset="-122"/>
                <a:cs typeface="Arial" pitchFamily="34" charset="-120"/>
              </a:rPr>
              <a:t>Will it burn?</a:t>
            </a:r>
            <a:endParaRPr lang="en-US" sz="12000" dirty="0"/>
          </a:p>
        </p:txBody>
      </p:sp>
      <p:sp>
        <p:nvSpPr>
          <p:cNvPr id="4" name="Text 2"/>
          <p:cNvSpPr/>
          <p:nvPr/>
        </p:nvSpPr>
        <p:spPr>
          <a:xfrm>
            <a:off x="777240" y="5074920"/>
            <a:ext cx="10637215" cy="457200"/>
          </a:xfrm>
          <a:prstGeom prst="rect">
            <a:avLst/>
          </a:prstGeom>
          <a:noFill/>
          <a:ln/>
        </p:spPr>
        <p:txBody>
          <a:bodyPr wrap="square" lIns="0" tIns="0" rIns="0" bIns="0" rtlCol="0" anchor="t"/>
          <a:lstStyle/>
          <a:p>
            <a:pPr algn="l" indent="0" marL="0">
              <a:buNone/>
            </a:pPr>
            <a:r>
              <a:rPr lang="en-US" sz="2800" b="1" dirty="0">
                <a:solidFill>
                  <a:srgbClr val="FF4FD8"/>
                </a:solidFill>
                <a:latin typeface="Arial" pitchFamily="34" charset="0"/>
                <a:ea typeface="Arial" pitchFamily="34" charset="-122"/>
                <a:cs typeface="Arial" pitchFamily="34" charset="-120"/>
              </a:rPr>
              <a:t>PLACEHOLDER</a:t>
            </a:r>
            <a:pPr algn="l" indent="0" marL="0">
              <a:buNone/>
            </a:pPr>
            <a:r>
              <a:rPr lang="en-US" sz="2800" dirty="0">
                <a:solidFill>
                  <a:srgbClr val="FF4FD8"/>
                </a:solidFill>
                <a:latin typeface="Arial" pitchFamily="34" charset="0"/>
                <a:ea typeface="Arial" pitchFamily="34" charset="-122"/>
                <a:cs typeface="Arial" pitchFamily="34" charset="-120"/>
              </a:rPr>
              <a:t> · NASA footage of a flame in microgravity</a:t>
            </a:r>
            <a:endParaRPr lang="en-US" sz="2800" dirty="0"/>
          </a:p>
        </p:txBody>
      </p:sp>
      <p:sp>
        <p:nvSpPr>
          <p:cNvPr id="5" name="Text 3"/>
          <p:cNvSpPr/>
          <p:nvPr/>
        </p:nvSpPr>
        <p:spPr>
          <a:xfrm>
            <a:off x="777240" y="5669280"/>
            <a:ext cx="5486400" cy="457200"/>
          </a:xfrm>
          <a:prstGeom prst="rect">
            <a:avLst/>
          </a:prstGeom>
          <a:noFill/>
          <a:ln/>
        </p:spPr>
        <p:txBody>
          <a:bodyPr wrap="square" lIns="0" tIns="0" rIns="0" bIns="0" rtlCol="0" anchor="t"/>
          <a:lstStyle/>
          <a:p>
            <a:pPr algn="l" indent="0" marL="0">
              <a:buNone/>
            </a:pPr>
            <a:r>
              <a:rPr lang="en-US" sz="2800" dirty="0">
                <a:solidFill>
                  <a:srgbClr val="B8C2D9"/>
                </a:solidFill>
                <a:latin typeface="Arial" pitchFamily="34" charset="0"/>
                <a:ea typeface="Arial" pitchFamily="34" charset="-122"/>
                <a:cs typeface="Arial" pitchFamily="34" charset="-120"/>
              </a:rPr>
              <a:t>Video: NASA</a:t>
            </a:r>
            <a:endParaRPr lang="en-US" sz="2800" dirty="0"/>
          </a:p>
        </p:txBody>
      </p:sp>
    </p:spTree>
  </p:cSld>
  <p:clrMapOvr>
    <a:masterClrMapping/>
  </p:clrMapOvr>
  <p:transition spd="med" advClick="1" advTm="12000"/>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65760"/>
            <a:ext cx="7680960" cy="1005840"/>
          </a:xfrm>
          <a:prstGeom prst="rect">
            <a:avLst/>
          </a:prstGeom>
          <a:noFill/>
          <a:ln/>
        </p:spPr>
        <p:txBody>
          <a:bodyPr wrap="square" lIns="0" tIns="0" rIns="0" bIns="0" rtlCol="0" anchor="t"/>
          <a:lstStyle/>
          <a:p>
            <a:pPr algn="l" indent="0" marL="0">
              <a:buNone/>
            </a:pPr>
            <a:r>
              <a:rPr lang="en-US" sz="6600" b="1" dirty="0">
                <a:solidFill>
                  <a:srgbClr val="F5F5F7"/>
                </a:solidFill>
                <a:latin typeface="Arial" pitchFamily="34" charset="0"/>
                <a:ea typeface="Arial" pitchFamily="34" charset="-122"/>
                <a:cs typeface="Arial" pitchFamily="34" charset="-120"/>
              </a:rPr>
              <a:t>Team Polaris</a:t>
            </a:r>
            <a:endParaRPr lang="en-US" sz="6600" dirty="0"/>
          </a:p>
        </p:txBody>
      </p:sp>
      <p:sp>
        <p:nvSpPr>
          <p:cNvPr id="3" name="Text 1"/>
          <p:cNvSpPr/>
          <p:nvPr/>
        </p:nvSpPr>
        <p:spPr>
          <a:xfrm>
            <a:off x="548640" y="1371600"/>
            <a:ext cx="7680960" cy="548640"/>
          </a:xfrm>
          <a:prstGeom prst="rect">
            <a:avLst/>
          </a:prstGeom>
          <a:noFill/>
          <a:ln/>
        </p:spPr>
        <p:txBody>
          <a:bodyPr wrap="square" lIns="0" tIns="0" rIns="0" bIns="0" rtlCol="0" anchor="t"/>
          <a:lstStyle/>
          <a:p>
            <a:pPr algn="l" indent="0" marL="0">
              <a:buNone/>
            </a:pPr>
            <a:r>
              <a:rPr lang="en-US" sz="3200" dirty="0">
                <a:solidFill>
                  <a:srgbClr val="B8C2D9"/>
                </a:solidFill>
                <a:latin typeface="Arial" pitchFamily="34" charset="0"/>
                <a:ea typeface="Arial" pitchFamily="34" charset="-122"/>
                <a:cs typeface="Arial" pitchFamily="34" charset="-120"/>
              </a:rPr>
              <a:t>Dhaka, Bangladesh</a:t>
            </a:r>
            <a:endParaRPr lang="en-US" sz="3200" dirty="0"/>
          </a:p>
        </p:txBody>
      </p:sp>
      <p:sp>
        <p:nvSpPr>
          <p:cNvPr id="4" name="Shape 2"/>
          <p:cNvSpPr/>
          <p:nvPr/>
        </p:nvSpPr>
        <p:spPr>
          <a:xfrm>
            <a:off x="548640" y="2212848"/>
            <a:ext cx="5440680" cy="1225296"/>
          </a:xfrm>
          <a:prstGeom prst="roundRect">
            <a:avLst>
              <a:gd name="adj" fmla="val 13433"/>
            </a:avLst>
          </a:prstGeom>
          <a:solidFill>
            <a:srgbClr val="0F1833">
              <a:alpha val="88000"/>
            </a:srgbClr>
          </a:solidFill>
          <a:ln w="15875">
            <a:solidFill>
              <a:srgbClr val="2B3B6B"/>
            </a:solidFill>
            <a:prstDash val="solid"/>
          </a:ln>
        </p:spPr>
      </p:sp>
      <p:sp>
        <p:nvSpPr>
          <p:cNvPr id="5" name="Text 3"/>
          <p:cNvSpPr/>
          <p:nvPr/>
        </p:nvSpPr>
        <p:spPr>
          <a:xfrm>
            <a:off x="822960" y="2331720"/>
            <a:ext cx="4983480" cy="502920"/>
          </a:xfrm>
          <a:prstGeom prst="rect">
            <a:avLst/>
          </a:prstGeom>
          <a:noFill/>
          <a:ln/>
        </p:spPr>
        <p:txBody>
          <a:bodyPr wrap="square" lIns="0" tIns="0" rIns="0" bIns="0" rtlCol="0" anchor="t"/>
          <a:lstStyle/>
          <a:p>
            <a:pPr algn="l" indent="0" marL="0">
              <a:buNone/>
            </a:pPr>
            <a:r>
              <a:rPr lang="en-US" sz="3200" b="1" dirty="0">
                <a:solidFill>
                  <a:srgbClr val="F5F5F7"/>
                </a:solidFill>
                <a:latin typeface="Arial" pitchFamily="34" charset="0"/>
                <a:ea typeface="Arial" pitchFamily="34" charset="-122"/>
                <a:cs typeface="Arial" pitchFamily="34" charset="-120"/>
              </a:rPr>
              <a:t>Shamimul Shimul</a:t>
            </a:r>
            <a:endParaRPr lang="en-US" sz="3200" dirty="0"/>
          </a:p>
        </p:txBody>
      </p:sp>
      <p:sp>
        <p:nvSpPr>
          <p:cNvPr id="6" name="Text 4"/>
          <p:cNvSpPr/>
          <p:nvPr/>
        </p:nvSpPr>
        <p:spPr>
          <a:xfrm>
            <a:off x="822960" y="2852928"/>
            <a:ext cx="4983480" cy="457200"/>
          </a:xfrm>
          <a:prstGeom prst="rect">
            <a:avLst/>
          </a:prstGeom>
          <a:noFill/>
          <a:ln/>
        </p:spPr>
        <p:txBody>
          <a:bodyPr wrap="square" lIns="0" tIns="0" rIns="0" bIns="0" rtlCol="0" anchor="t"/>
          <a:lstStyle/>
          <a:p>
            <a:pPr algn="l" indent="0" marL="0">
              <a:buNone/>
            </a:pPr>
            <a:r>
              <a:rPr lang="en-US" sz="2800" dirty="0">
                <a:solidFill>
                  <a:srgbClr val="B8C2D9"/>
                </a:solidFill>
                <a:latin typeface="Arial" pitchFamily="34" charset="0"/>
                <a:ea typeface="Arial" pitchFamily="34" charset="-122"/>
                <a:cs typeface="Arial" pitchFamily="34" charset="-120"/>
              </a:rPr>
              <a:t>Team lead</a:t>
            </a:r>
            <a:endParaRPr lang="en-US" sz="2800" dirty="0"/>
          </a:p>
        </p:txBody>
      </p:sp>
      <p:sp>
        <p:nvSpPr>
          <p:cNvPr id="7" name="Shape 5"/>
          <p:cNvSpPr/>
          <p:nvPr/>
        </p:nvSpPr>
        <p:spPr>
          <a:xfrm>
            <a:off x="6202375" y="2212848"/>
            <a:ext cx="5440680" cy="1225296"/>
          </a:xfrm>
          <a:prstGeom prst="roundRect">
            <a:avLst>
              <a:gd name="adj" fmla="val 13433"/>
            </a:avLst>
          </a:prstGeom>
          <a:solidFill>
            <a:srgbClr val="0F1833">
              <a:alpha val="88000"/>
            </a:srgbClr>
          </a:solidFill>
          <a:ln w="15875">
            <a:solidFill>
              <a:srgbClr val="2B3B6B"/>
            </a:solidFill>
            <a:prstDash val="solid"/>
          </a:ln>
        </p:spPr>
      </p:sp>
      <p:sp>
        <p:nvSpPr>
          <p:cNvPr id="8" name="Text 6"/>
          <p:cNvSpPr/>
          <p:nvPr/>
        </p:nvSpPr>
        <p:spPr>
          <a:xfrm>
            <a:off x="6476695" y="2331720"/>
            <a:ext cx="4983480" cy="502920"/>
          </a:xfrm>
          <a:prstGeom prst="rect">
            <a:avLst/>
          </a:prstGeom>
          <a:noFill/>
          <a:ln/>
        </p:spPr>
        <p:txBody>
          <a:bodyPr wrap="square" lIns="0" tIns="0" rIns="0" bIns="0" rtlCol="0" anchor="t"/>
          <a:lstStyle/>
          <a:p>
            <a:pPr algn="l" indent="0" marL="0">
              <a:buNone/>
            </a:pPr>
            <a:r>
              <a:rPr lang="en-US" sz="3200" b="1" dirty="0">
                <a:solidFill>
                  <a:srgbClr val="F5F5F7"/>
                </a:solidFill>
                <a:latin typeface="Arial" pitchFamily="34" charset="0"/>
                <a:ea typeface="Arial" pitchFamily="34" charset="-122"/>
                <a:cs typeface="Arial" pitchFamily="34" charset="-120"/>
              </a:rPr>
              <a:t>Soleman Hossain</a:t>
            </a:r>
            <a:endParaRPr lang="en-US" sz="3200" dirty="0"/>
          </a:p>
        </p:txBody>
      </p:sp>
      <p:sp>
        <p:nvSpPr>
          <p:cNvPr id="9" name="Text 7"/>
          <p:cNvSpPr/>
          <p:nvPr/>
        </p:nvSpPr>
        <p:spPr>
          <a:xfrm>
            <a:off x="6476695" y="2852928"/>
            <a:ext cx="4983480" cy="457200"/>
          </a:xfrm>
          <a:prstGeom prst="rect">
            <a:avLst/>
          </a:prstGeom>
          <a:noFill/>
          <a:ln/>
        </p:spPr>
        <p:txBody>
          <a:bodyPr wrap="square" lIns="0" tIns="0" rIns="0" bIns="0" rtlCol="0" anchor="t"/>
          <a:lstStyle/>
          <a:p>
            <a:pPr algn="l" indent="0" marL="0">
              <a:buNone/>
            </a:pPr>
            <a:r>
              <a:rPr lang="en-US" sz="2800" dirty="0">
                <a:solidFill>
                  <a:srgbClr val="B8C2D9"/>
                </a:solidFill>
                <a:latin typeface="Arial" pitchFamily="34" charset="0"/>
                <a:ea typeface="Arial" pitchFamily="34" charset="-122"/>
                <a:cs typeface="Arial" pitchFamily="34" charset="-120"/>
              </a:rPr>
              <a:t>Product lead</a:t>
            </a:r>
            <a:endParaRPr lang="en-US" sz="2800" dirty="0"/>
          </a:p>
        </p:txBody>
      </p:sp>
      <p:sp>
        <p:nvSpPr>
          <p:cNvPr id="10" name="Shape 8"/>
          <p:cNvSpPr/>
          <p:nvPr/>
        </p:nvSpPr>
        <p:spPr>
          <a:xfrm>
            <a:off x="548640" y="3593592"/>
            <a:ext cx="5440680" cy="1225296"/>
          </a:xfrm>
          <a:prstGeom prst="roundRect">
            <a:avLst>
              <a:gd name="adj" fmla="val 13433"/>
            </a:avLst>
          </a:prstGeom>
          <a:solidFill>
            <a:srgbClr val="0F1833">
              <a:alpha val="88000"/>
            </a:srgbClr>
          </a:solidFill>
          <a:ln w="15875">
            <a:solidFill>
              <a:srgbClr val="2B3B6B"/>
            </a:solidFill>
            <a:prstDash val="solid"/>
          </a:ln>
        </p:spPr>
      </p:sp>
      <p:sp>
        <p:nvSpPr>
          <p:cNvPr id="11" name="Text 9"/>
          <p:cNvSpPr/>
          <p:nvPr/>
        </p:nvSpPr>
        <p:spPr>
          <a:xfrm>
            <a:off x="822960" y="3712464"/>
            <a:ext cx="4983480" cy="502920"/>
          </a:xfrm>
          <a:prstGeom prst="rect">
            <a:avLst/>
          </a:prstGeom>
          <a:noFill/>
          <a:ln/>
        </p:spPr>
        <p:txBody>
          <a:bodyPr wrap="square" lIns="0" tIns="0" rIns="0" bIns="0" rtlCol="0" anchor="t"/>
          <a:lstStyle/>
          <a:p>
            <a:pPr algn="l" indent="0" marL="0">
              <a:buNone/>
            </a:pPr>
            <a:r>
              <a:rPr lang="en-US" sz="3200" b="1" dirty="0">
                <a:solidFill>
                  <a:srgbClr val="F5F5F7"/>
                </a:solidFill>
                <a:latin typeface="Arial" pitchFamily="34" charset="0"/>
                <a:ea typeface="Arial" pitchFamily="34" charset="-122"/>
                <a:cs typeface="Arial" pitchFamily="34" charset="-120"/>
              </a:rPr>
              <a:t>Iman Ahamad</a:t>
            </a:r>
            <a:endParaRPr lang="en-US" sz="3200" dirty="0"/>
          </a:p>
        </p:txBody>
      </p:sp>
      <p:sp>
        <p:nvSpPr>
          <p:cNvPr id="12" name="Text 10"/>
          <p:cNvSpPr/>
          <p:nvPr/>
        </p:nvSpPr>
        <p:spPr>
          <a:xfrm>
            <a:off x="822960" y="4233672"/>
            <a:ext cx="4983480" cy="457200"/>
          </a:xfrm>
          <a:prstGeom prst="rect">
            <a:avLst/>
          </a:prstGeom>
          <a:noFill/>
          <a:ln/>
        </p:spPr>
        <p:txBody>
          <a:bodyPr wrap="square" lIns="0" tIns="0" rIns="0" bIns="0" rtlCol="0" anchor="t"/>
          <a:lstStyle/>
          <a:p>
            <a:pPr algn="l" indent="0" marL="0">
              <a:buNone/>
            </a:pPr>
            <a:r>
              <a:rPr lang="en-US" sz="2800" dirty="0">
                <a:solidFill>
                  <a:srgbClr val="B8C2D9"/>
                </a:solidFill>
                <a:latin typeface="Arial" pitchFamily="34" charset="0"/>
                <a:ea typeface="Arial" pitchFamily="34" charset="-122"/>
                <a:cs typeface="Arial" pitchFamily="34" charset="-120"/>
              </a:rPr>
              <a:t>Computer vision developer</a:t>
            </a:r>
            <a:endParaRPr lang="en-US" sz="2800" dirty="0"/>
          </a:p>
        </p:txBody>
      </p:sp>
      <p:sp>
        <p:nvSpPr>
          <p:cNvPr id="13" name="Shape 11"/>
          <p:cNvSpPr/>
          <p:nvPr/>
        </p:nvSpPr>
        <p:spPr>
          <a:xfrm>
            <a:off x="6202375" y="3593592"/>
            <a:ext cx="5440680" cy="1225296"/>
          </a:xfrm>
          <a:prstGeom prst="roundRect">
            <a:avLst>
              <a:gd name="adj" fmla="val 13433"/>
            </a:avLst>
          </a:prstGeom>
          <a:solidFill>
            <a:srgbClr val="0F1833">
              <a:alpha val="88000"/>
            </a:srgbClr>
          </a:solidFill>
          <a:ln w="15875">
            <a:solidFill>
              <a:srgbClr val="2B3B6B"/>
            </a:solidFill>
            <a:prstDash val="solid"/>
          </a:ln>
        </p:spPr>
      </p:sp>
      <p:sp>
        <p:nvSpPr>
          <p:cNvPr id="14" name="Text 12"/>
          <p:cNvSpPr/>
          <p:nvPr/>
        </p:nvSpPr>
        <p:spPr>
          <a:xfrm>
            <a:off x="6476695" y="3712464"/>
            <a:ext cx="4983480" cy="502920"/>
          </a:xfrm>
          <a:prstGeom prst="rect">
            <a:avLst/>
          </a:prstGeom>
          <a:noFill/>
          <a:ln/>
        </p:spPr>
        <p:txBody>
          <a:bodyPr wrap="square" lIns="0" tIns="0" rIns="0" bIns="0" rtlCol="0" anchor="t"/>
          <a:lstStyle/>
          <a:p>
            <a:pPr algn="l" indent="0" marL="0">
              <a:buNone/>
            </a:pPr>
            <a:r>
              <a:rPr lang="en-US" sz="3200" b="1" dirty="0">
                <a:solidFill>
                  <a:srgbClr val="F5F5F7"/>
                </a:solidFill>
                <a:latin typeface="Arial" pitchFamily="34" charset="0"/>
                <a:ea typeface="Arial" pitchFamily="34" charset="-122"/>
                <a:cs typeface="Arial" pitchFamily="34" charset="-120"/>
              </a:rPr>
              <a:t>Sara Rahman</a:t>
            </a:r>
            <a:endParaRPr lang="en-US" sz="3200" dirty="0"/>
          </a:p>
        </p:txBody>
      </p:sp>
      <p:sp>
        <p:nvSpPr>
          <p:cNvPr id="15" name="Text 13"/>
          <p:cNvSpPr/>
          <p:nvPr/>
        </p:nvSpPr>
        <p:spPr>
          <a:xfrm>
            <a:off x="6476695" y="4233672"/>
            <a:ext cx="4983480" cy="457200"/>
          </a:xfrm>
          <a:prstGeom prst="rect">
            <a:avLst/>
          </a:prstGeom>
          <a:noFill/>
          <a:ln/>
        </p:spPr>
        <p:txBody>
          <a:bodyPr wrap="square" lIns="0" tIns="0" rIns="0" bIns="0" rtlCol="0" anchor="t"/>
          <a:lstStyle/>
          <a:p>
            <a:pPr algn="l" indent="0" marL="0">
              <a:buNone/>
            </a:pPr>
            <a:r>
              <a:rPr lang="en-US" sz="2800" dirty="0">
                <a:solidFill>
                  <a:srgbClr val="B8C2D9"/>
                </a:solidFill>
                <a:latin typeface="Arial" pitchFamily="34" charset="0"/>
                <a:ea typeface="Arial" pitchFamily="34" charset="-122"/>
                <a:cs typeface="Arial" pitchFamily="34" charset="-120"/>
              </a:rPr>
              <a:t>Scientific researcher</a:t>
            </a:r>
            <a:endParaRPr lang="en-US" sz="2800" dirty="0"/>
          </a:p>
        </p:txBody>
      </p:sp>
      <p:sp>
        <p:nvSpPr>
          <p:cNvPr id="16" name="Shape 14"/>
          <p:cNvSpPr/>
          <p:nvPr/>
        </p:nvSpPr>
        <p:spPr>
          <a:xfrm>
            <a:off x="548640" y="4974336"/>
            <a:ext cx="5440680" cy="1225296"/>
          </a:xfrm>
          <a:prstGeom prst="roundRect">
            <a:avLst>
              <a:gd name="adj" fmla="val 13433"/>
            </a:avLst>
          </a:prstGeom>
          <a:solidFill>
            <a:srgbClr val="0F1833">
              <a:alpha val="88000"/>
            </a:srgbClr>
          </a:solidFill>
          <a:ln w="15875">
            <a:solidFill>
              <a:srgbClr val="2B3B6B"/>
            </a:solidFill>
            <a:prstDash val="solid"/>
          </a:ln>
        </p:spPr>
      </p:sp>
      <p:sp>
        <p:nvSpPr>
          <p:cNvPr id="17" name="Text 15"/>
          <p:cNvSpPr/>
          <p:nvPr/>
        </p:nvSpPr>
        <p:spPr>
          <a:xfrm>
            <a:off x="822960" y="5093208"/>
            <a:ext cx="4983480" cy="502920"/>
          </a:xfrm>
          <a:prstGeom prst="rect">
            <a:avLst/>
          </a:prstGeom>
          <a:noFill/>
          <a:ln/>
        </p:spPr>
        <p:txBody>
          <a:bodyPr wrap="square" lIns="0" tIns="0" rIns="0" bIns="0" rtlCol="0" anchor="t"/>
          <a:lstStyle/>
          <a:p>
            <a:pPr algn="l" indent="0" marL="0">
              <a:buNone/>
            </a:pPr>
            <a:r>
              <a:rPr lang="en-US" sz="3200" b="1" dirty="0">
                <a:solidFill>
                  <a:srgbClr val="F5F5F7"/>
                </a:solidFill>
                <a:latin typeface="Arial" pitchFamily="34" charset="0"/>
                <a:ea typeface="Arial" pitchFamily="34" charset="-122"/>
                <a:cs typeface="Arial" pitchFamily="34" charset="-120"/>
              </a:rPr>
              <a:t>Sihab Mahmud</a:t>
            </a:r>
            <a:endParaRPr lang="en-US" sz="3200" dirty="0"/>
          </a:p>
        </p:txBody>
      </p:sp>
      <p:sp>
        <p:nvSpPr>
          <p:cNvPr id="18" name="Text 16"/>
          <p:cNvSpPr/>
          <p:nvPr/>
        </p:nvSpPr>
        <p:spPr>
          <a:xfrm>
            <a:off x="822960" y="5614416"/>
            <a:ext cx="4983480" cy="457200"/>
          </a:xfrm>
          <a:prstGeom prst="rect">
            <a:avLst/>
          </a:prstGeom>
          <a:noFill/>
          <a:ln/>
        </p:spPr>
        <p:txBody>
          <a:bodyPr wrap="square" lIns="0" tIns="0" rIns="0" bIns="0" rtlCol="0" anchor="t"/>
          <a:lstStyle/>
          <a:p>
            <a:pPr algn="l" indent="0" marL="0">
              <a:buNone/>
            </a:pPr>
            <a:r>
              <a:rPr lang="en-US" sz="2800" dirty="0">
                <a:solidFill>
                  <a:srgbClr val="B8C2D9"/>
                </a:solidFill>
                <a:latin typeface="Arial" pitchFamily="34" charset="0"/>
                <a:ea typeface="Arial" pitchFamily="34" charset="-122"/>
                <a:cs typeface="Arial" pitchFamily="34" charset="-120"/>
              </a:rPr>
              <a:t>Tech development and design</a:t>
            </a:r>
            <a:endParaRPr lang="en-US" sz="2800" dirty="0"/>
          </a:p>
        </p:txBody>
      </p:sp>
      <p:sp>
        <p:nvSpPr>
          <p:cNvPr id="19" name="Shape 17"/>
          <p:cNvSpPr/>
          <p:nvPr/>
        </p:nvSpPr>
        <p:spPr>
          <a:xfrm>
            <a:off x="6202375" y="4974336"/>
            <a:ext cx="5440680" cy="1225296"/>
          </a:xfrm>
          <a:prstGeom prst="roundRect">
            <a:avLst>
              <a:gd name="adj" fmla="val 13433"/>
            </a:avLst>
          </a:prstGeom>
          <a:solidFill>
            <a:srgbClr val="0F1833">
              <a:alpha val="88000"/>
            </a:srgbClr>
          </a:solidFill>
          <a:ln w="15875">
            <a:solidFill>
              <a:srgbClr val="2B3B6B"/>
            </a:solidFill>
            <a:prstDash val="solid"/>
          </a:ln>
        </p:spPr>
      </p:sp>
      <p:sp>
        <p:nvSpPr>
          <p:cNvPr id="20" name="Text 18"/>
          <p:cNvSpPr/>
          <p:nvPr/>
        </p:nvSpPr>
        <p:spPr>
          <a:xfrm>
            <a:off x="6476695" y="5093208"/>
            <a:ext cx="4983480" cy="502920"/>
          </a:xfrm>
          <a:prstGeom prst="rect">
            <a:avLst/>
          </a:prstGeom>
          <a:noFill/>
          <a:ln/>
        </p:spPr>
        <p:txBody>
          <a:bodyPr wrap="square" lIns="0" tIns="0" rIns="0" bIns="0" rtlCol="0" anchor="t"/>
          <a:lstStyle/>
          <a:p>
            <a:pPr algn="l" indent="0" marL="0">
              <a:buNone/>
            </a:pPr>
            <a:r>
              <a:rPr lang="en-US" sz="3200" b="1" dirty="0">
                <a:solidFill>
                  <a:srgbClr val="F5F5F7"/>
                </a:solidFill>
                <a:latin typeface="Arial" pitchFamily="34" charset="0"/>
                <a:ea typeface="Arial" pitchFamily="34" charset="-122"/>
                <a:cs typeface="Arial" pitchFamily="34" charset="-120"/>
              </a:rPr>
              <a:t>Faisal Mahmud Abir</a:t>
            </a:r>
            <a:endParaRPr lang="en-US" sz="3200" dirty="0"/>
          </a:p>
        </p:txBody>
      </p:sp>
      <p:sp>
        <p:nvSpPr>
          <p:cNvPr id="21" name="Text 19"/>
          <p:cNvSpPr/>
          <p:nvPr/>
        </p:nvSpPr>
        <p:spPr>
          <a:xfrm>
            <a:off x="6476695" y="5614416"/>
            <a:ext cx="4983480" cy="457200"/>
          </a:xfrm>
          <a:prstGeom prst="rect">
            <a:avLst/>
          </a:prstGeom>
          <a:noFill/>
          <a:ln/>
        </p:spPr>
        <p:txBody>
          <a:bodyPr wrap="square" lIns="0" tIns="0" rIns="0" bIns="0" rtlCol="0" anchor="t"/>
          <a:lstStyle/>
          <a:p>
            <a:pPr algn="l" indent="0" marL="0">
              <a:buNone/>
            </a:pPr>
            <a:r>
              <a:rPr lang="en-US" sz="2800" dirty="0">
                <a:solidFill>
                  <a:srgbClr val="B8C2D9"/>
                </a:solidFill>
                <a:latin typeface="Arial" pitchFamily="34" charset="0"/>
                <a:ea typeface="Arial" pitchFamily="34" charset="-122"/>
                <a:cs typeface="Arial" pitchFamily="34" charset="-120"/>
              </a:rPr>
              <a:t>AI engineer</a:t>
            </a:r>
            <a:endParaRPr lang="en-US" sz="2800" dirty="0"/>
          </a:p>
        </p:txBody>
      </p:sp>
    </p:spTree>
  </p:cSld>
  <p:clrMapOvr>
    <a:masterClrMapping/>
  </p:clrMapOvr>
  <p:transition spd="med" advClick="1" advTm="30000"/>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457200"/>
            <a:ext cx="11277295" cy="5074920"/>
          </a:xfrm>
          <a:prstGeom prst="rect">
            <a:avLst/>
          </a:prstGeom>
          <a:solidFill>
            <a:srgbClr val="FF4FD8">
              <a:alpha val="7000"/>
            </a:srgbClr>
          </a:solidFill>
          <a:ln w="31750">
            <a:solidFill>
              <a:srgbClr val="FF4FD8"/>
            </a:solidFill>
            <a:prstDash val="dash"/>
          </a:ln>
        </p:spPr>
      </p:sp>
      <p:sp>
        <p:nvSpPr>
          <p:cNvPr id="3" name="Text 1"/>
          <p:cNvSpPr/>
          <p:nvPr/>
        </p:nvSpPr>
        <p:spPr>
          <a:xfrm>
            <a:off x="685800" y="640080"/>
            <a:ext cx="10820095" cy="4709160"/>
          </a:xfrm>
          <a:prstGeom prst="rect">
            <a:avLst/>
          </a:prstGeom>
          <a:noFill/>
          <a:ln/>
        </p:spPr>
        <p:txBody>
          <a:bodyPr wrap="square" lIns="0" tIns="0" rIns="0" bIns="0" rtlCol="0" anchor="ctr"/>
          <a:lstStyle/>
          <a:p>
            <a:pPr algn="ctr" indent="0" marL="0">
              <a:spcAft>
                <a:spcPts val="600"/>
              </a:spcAft>
              <a:buNone/>
            </a:pPr>
            <a:r>
              <a:rPr lang="en-US" sz="2800" b="1" dirty="0">
                <a:solidFill>
                  <a:srgbClr val="FF4FD8"/>
                </a:solidFill>
                <a:latin typeface="Arial" pitchFamily="34" charset="0"/>
                <a:ea typeface="Arial" pitchFamily="34" charset="-122"/>
                <a:cs typeface="Arial" pitchFamily="34" charset="-120"/>
              </a:rPr>
              <a:t>PLACEHOLDER</a:t>
            </a:r>
            <a:endParaRPr lang="en-US" sz="2800" dirty="0"/>
          </a:p>
          <a:p>
            <a:pPr algn="ctr" indent="0" marL="0">
              <a:spcAft>
                <a:spcPts val="600"/>
              </a:spcAft>
              <a:buNone/>
            </a:pPr>
            <a:r>
              <a:rPr lang="en-US" sz="2800" dirty="0">
                <a:solidFill>
                  <a:srgbClr val="F5F5F7"/>
                </a:solidFill>
                <a:latin typeface="Arial" pitchFamily="34" charset="0"/>
                <a:ea typeface="Arial" pitchFamily="34" charset="-122"/>
                <a:cs typeface="Arial" pitchFamily="34" charset="-120"/>
              </a:rPr>
              <a:t>Team photo: all six members</a:t>
            </a:r>
            <a:endParaRPr lang="en-US" sz="2800" dirty="0"/>
          </a:p>
        </p:txBody>
      </p:sp>
      <p:sp>
        <p:nvSpPr>
          <p:cNvPr id="4" name="Text 2"/>
          <p:cNvSpPr/>
          <p:nvPr/>
        </p:nvSpPr>
        <p:spPr>
          <a:xfrm>
            <a:off x="548640" y="5760720"/>
            <a:ext cx="11094415" cy="640080"/>
          </a:xfrm>
          <a:prstGeom prst="rect">
            <a:avLst/>
          </a:prstGeom>
          <a:noFill/>
          <a:ln/>
        </p:spPr>
        <p:txBody>
          <a:bodyPr wrap="square" lIns="0" tIns="0" rIns="0" bIns="0" rtlCol="0" anchor="ctr"/>
          <a:lstStyle/>
          <a:p>
            <a:pPr algn="ctr" indent="0" marL="0">
              <a:buNone/>
            </a:pPr>
            <a:r>
              <a:rPr lang="en-US" sz="3600" dirty="0">
                <a:solidFill>
                  <a:srgbClr val="F5F5F7"/>
                </a:solidFill>
                <a:latin typeface="Arial" pitchFamily="34" charset="0"/>
                <a:ea typeface="Arial" pitchFamily="34" charset="-122"/>
                <a:cs typeface="Arial" pitchFamily="34" charset="-120"/>
              </a:rPr>
              <a:t>Team Polaris · Dhaka, Bangladesh</a:t>
            </a:r>
            <a:endParaRPr lang="en-US" sz="3600" dirty="0"/>
          </a:p>
        </p:txBody>
      </p:sp>
    </p:spTree>
  </p:cSld>
  <p:clrMapOvr>
    <a:masterClrMapping/>
  </p:clrMapOvr>
  <p:transition spd="med" advClick="1" advTm="2000"/>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20040"/>
            <a:ext cx="11094415" cy="713232"/>
          </a:xfrm>
          <a:prstGeom prst="rect">
            <a:avLst/>
          </a:prstGeom>
          <a:noFill/>
          <a:ln/>
        </p:spPr>
        <p:txBody>
          <a:bodyPr wrap="square" lIns="0" tIns="0" rIns="0" bIns="0" rtlCol="0" anchor="t"/>
          <a:lstStyle/>
          <a:p>
            <a:pPr algn="l" indent="0" marL="0">
              <a:buNone/>
            </a:pPr>
            <a:r>
              <a:rPr lang="en-US" sz="4400" b="1" dirty="0">
                <a:solidFill>
                  <a:srgbClr val="F5F5F7"/>
                </a:solidFill>
                <a:latin typeface="Arial" pitchFamily="34" charset="0"/>
                <a:ea typeface="Arial" pitchFamily="34" charset="-122"/>
                <a:cs typeface="Arial" pitchFamily="34" charset="-120"/>
              </a:rPr>
              <a:t>Gravity changes how things burn</a:t>
            </a:r>
            <a:endParaRPr lang="en-US" sz="4400" dirty="0"/>
          </a:p>
        </p:txBody>
      </p:sp>
      <p:sp>
        <p:nvSpPr>
          <p:cNvPr id="3" name="Shape 1"/>
          <p:cNvSpPr/>
          <p:nvPr/>
        </p:nvSpPr>
        <p:spPr>
          <a:xfrm>
            <a:off x="548640" y="1188720"/>
            <a:ext cx="4297680" cy="4069080"/>
          </a:xfrm>
          <a:prstGeom prst="rect">
            <a:avLst/>
          </a:prstGeom>
          <a:solidFill>
            <a:srgbClr val="FF4FD8">
              <a:alpha val="7000"/>
            </a:srgbClr>
          </a:solidFill>
          <a:ln w="31750">
            <a:solidFill>
              <a:srgbClr val="FF4FD8"/>
            </a:solidFill>
            <a:prstDash val="dash"/>
          </a:ln>
        </p:spPr>
      </p:sp>
      <p:sp>
        <p:nvSpPr>
          <p:cNvPr id="4" name="Text 2"/>
          <p:cNvSpPr/>
          <p:nvPr/>
        </p:nvSpPr>
        <p:spPr>
          <a:xfrm>
            <a:off x="777240" y="1371600"/>
            <a:ext cx="3840480" cy="3703320"/>
          </a:xfrm>
          <a:prstGeom prst="rect">
            <a:avLst/>
          </a:prstGeom>
          <a:noFill/>
          <a:ln/>
        </p:spPr>
        <p:txBody>
          <a:bodyPr wrap="square" lIns="0" tIns="0" rIns="0" bIns="0" rtlCol="0" anchor="ctr"/>
          <a:lstStyle/>
          <a:p>
            <a:pPr algn="ctr" indent="0" marL="0">
              <a:spcAft>
                <a:spcPts val="600"/>
              </a:spcAft>
              <a:buNone/>
            </a:pPr>
            <a:r>
              <a:rPr lang="en-US" sz="2800" b="1" dirty="0">
                <a:solidFill>
                  <a:srgbClr val="FF4FD8"/>
                </a:solidFill>
                <a:latin typeface="Arial" pitchFamily="34" charset="0"/>
                <a:ea typeface="Arial" pitchFamily="34" charset="-122"/>
                <a:cs typeface="Arial" pitchFamily="34" charset="-120"/>
              </a:rPr>
              <a:t>PLACEHOLDER</a:t>
            </a:r>
            <a:endParaRPr lang="en-US" sz="2800" dirty="0"/>
          </a:p>
          <a:p>
            <a:pPr algn="ctr" indent="0" marL="0">
              <a:spcAft>
                <a:spcPts val="600"/>
              </a:spcAft>
              <a:buNone/>
            </a:pPr>
            <a:r>
              <a:rPr lang="en-US" sz="2800" dirty="0">
                <a:solidFill>
                  <a:srgbClr val="F5F5F7"/>
                </a:solidFill>
                <a:latin typeface="Arial" pitchFamily="34" charset="0"/>
                <a:ea typeface="Arial" pitchFamily="34" charset="-122"/>
                <a:cs typeface="Arial" pitchFamily="34" charset="-120"/>
              </a:rPr>
              <a:t>NASA image: the ISS</a:t>
            </a:r>
            <a:endParaRPr lang="en-US" sz="2800" dirty="0"/>
          </a:p>
          <a:p>
            <a:pPr algn="ctr" indent="0" marL="0">
              <a:spcAft>
                <a:spcPts val="600"/>
              </a:spcAft>
              <a:buNone/>
            </a:pPr>
            <a:r>
              <a:rPr lang="en-US" sz="2800" dirty="0">
                <a:solidFill>
                  <a:srgbClr val="F5F5F7"/>
                </a:solidFill>
                <a:latin typeface="Arial" pitchFamily="34" charset="0"/>
                <a:ea typeface="Arial" pitchFamily="34" charset="-122"/>
                <a:cs typeface="Arial" pitchFamily="34" charset="-120"/>
              </a:rPr>
              <a:t>Credit: NASA</a:t>
            </a:r>
            <a:endParaRPr lang="en-US" sz="2800" dirty="0"/>
          </a:p>
        </p:txBody>
      </p:sp>
      <p:sp>
        <p:nvSpPr>
          <p:cNvPr id="5" name="Text 3"/>
          <p:cNvSpPr/>
          <p:nvPr/>
        </p:nvSpPr>
        <p:spPr>
          <a:xfrm>
            <a:off x="5257800" y="1033272"/>
            <a:ext cx="6385255" cy="1325880"/>
          </a:xfrm>
          <a:prstGeom prst="rect">
            <a:avLst/>
          </a:prstGeom>
          <a:noFill/>
          <a:ln/>
        </p:spPr>
        <p:txBody>
          <a:bodyPr wrap="square" lIns="0" tIns="0" rIns="0" bIns="0" rtlCol="0" anchor="t"/>
          <a:lstStyle/>
          <a:p>
            <a:pPr algn="l" indent="0" marL="0">
              <a:buNone/>
            </a:pPr>
            <a:r>
              <a:rPr lang="en-US" sz="8000" b="1" dirty="0">
                <a:solidFill>
                  <a:srgbClr val="7CB8FF"/>
                </a:solidFill>
                <a:latin typeface="Arial" pitchFamily="34" charset="0"/>
                <a:ea typeface="Arial" pitchFamily="34" charset="-122"/>
                <a:cs typeface="Arial" pitchFamily="34" charset="-120"/>
              </a:rPr>
              <a:t>17% </a:t>
            </a:r>
            <a:pPr algn="l" indent="0" marL="0">
              <a:buNone/>
            </a:pPr>
            <a:r>
              <a:rPr lang="en-US" sz="8000" b="1" dirty="0">
                <a:solidFill>
                  <a:srgbClr val="7CB8FF"/>
                </a:solidFill>
                <a:latin typeface="Arial" pitchFamily="34" charset="0"/>
                <a:ea typeface="Arial" pitchFamily="34" charset="-122"/>
                <a:cs typeface="Arial" pitchFamily="34" charset="-120"/>
              </a:rPr>
              <a:t>O</a:t>
            </a:r>
            <a:pPr algn="l" indent="0" marL="0">
              <a:buNone/>
            </a:pPr>
            <a:r>
              <a:rPr lang="en-US" sz="8000" b="1" baseline="-25000" dirty="0">
                <a:solidFill>
                  <a:srgbClr val="7CB8FF"/>
                </a:solidFill>
                <a:latin typeface="Arial" pitchFamily="34" charset="0"/>
                <a:ea typeface="Arial" pitchFamily="34" charset="-122"/>
                <a:cs typeface="Arial" pitchFamily="34" charset="-120"/>
              </a:rPr>
              <a:t>2</a:t>
            </a:r>
            <a:endParaRPr lang="en-US" sz="8000" dirty="0"/>
          </a:p>
        </p:txBody>
      </p:sp>
      <p:sp>
        <p:nvSpPr>
          <p:cNvPr id="6" name="Text 4"/>
          <p:cNvSpPr/>
          <p:nvPr/>
        </p:nvSpPr>
        <p:spPr>
          <a:xfrm>
            <a:off x="5257800" y="2404872"/>
            <a:ext cx="6385255" cy="502920"/>
          </a:xfrm>
          <a:prstGeom prst="rect">
            <a:avLst/>
          </a:prstGeom>
          <a:noFill/>
          <a:ln/>
        </p:spPr>
        <p:txBody>
          <a:bodyPr wrap="square" lIns="0" tIns="0" rIns="0" bIns="0" rtlCol="0" anchor="t"/>
          <a:lstStyle/>
          <a:p>
            <a:pPr algn="l" indent="0" marL="0">
              <a:buNone/>
            </a:pPr>
            <a:r>
              <a:rPr lang="en-US" sz="3000" dirty="0">
                <a:solidFill>
                  <a:srgbClr val="F5F5F7"/>
                </a:solidFill>
                <a:latin typeface="Arial" pitchFamily="34" charset="0"/>
                <a:ea typeface="Arial" pitchFamily="34" charset="-122"/>
                <a:cs typeface="Arial" pitchFamily="34" charset="-120"/>
              </a:rPr>
              <a:t>In orbit, acrylic rods kept burning</a:t>
            </a:r>
            <a:endParaRPr lang="en-US" sz="3000" dirty="0"/>
          </a:p>
        </p:txBody>
      </p:sp>
      <p:sp>
        <p:nvSpPr>
          <p:cNvPr id="7" name="Text 5"/>
          <p:cNvSpPr/>
          <p:nvPr/>
        </p:nvSpPr>
        <p:spPr>
          <a:xfrm>
            <a:off x="5257800" y="2944368"/>
            <a:ext cx="6385255" cy="1325880"/>
          </a:xfrm>
          <a:prstGeom prst="rect">
            <a:avLst/>
          </a:prstGeom>
          <a:noFill/>
          <a:ln/>
        </p:spPr>
        <p:txBody>
          <a:bodyPr wrap="square" lIns="0" tIns="0" rIns="0" bIns="0" rtlCol="0" anchor="t"/>
          <a:lstStyle/>
          <a:p>
            <a:pPr algn="l" indent="0" marL="0">
              <a:buNone/>
            </a:pPr>
            <a:r>
              <a:rPr lang="en-US" sz="8000" b="1" dirty="0">
                <a:solidFill>
                  <a:srgbClr val="FF9F0A"/>
                </a:solidFill>
                <a:latin typeface="Arial" pitchFamily="34" charset="0"/>
                <a:ea typeface="Arial" pitchFamily="34" charset="-122"/>
                <a:cs typeface="Arial" pitchFamily="34" charset="-120"/>
              </a:rPr>
              <a:t>18% </a:t>
            </a:r>
            <a:pPr algn="l" indent="0" marL="0">
              <a:buNone/>
            </a:pPr>
            <a:r>
              <a:rPr lang="en-US" sz="8000" b="1" dirty="0">
                <a:solidFill>
                  <a:srgbClr val="FF9F0A"/>
                </a:solidFill>
                <a:latin typeface="Arial" pitchFamily="34" charset="0"/>
                <a:ea typeface="Arial" pitchFamily="34" charset="-122"/>
                <a:cs typeface="Arial" pitchFamily="34" charset="-120"/>
              </a:rPr>
              <a:t>O</a:t>
            </a:r>
            <a:pPr algn="l" indent="0" marL="0">
              <a:buNone/>
            </a:pPr>
            <a:r>
              <a:rPr lang="en-US" sz="8000" b="1" baseline="-25000" dirty="0">
                <a:solidFill>
                  <a:srgbClr val="FF9F0A"/>
                </a:solidFill>
                <a:latin typeface="Arial" pitchFamily="34" charset="0"/>
                <a:ea typeface="Arial" pitchFamily="34" charset="-122"/>
                <a:cs typeface="Arial" pitchFamily="34" charset="-120"/>
              </a:rPr>
              <a:t>2</a:t>
            </a:r>
            <a:endParaRPr lang="en-US" sz="8000" dirty="0"/>
          </a:p>
        </p:txBody>
      </p:sp>
      <p:sp>
        <p:nvSpPr>
          <p:cNvPr id="8" name="Text 6"/>
          <p:cNvSpPr/>
          <p:nvPr/>
        </p:nvSpPr>
        <p:spPr>
          <a:xfrm>
            <a:off x="5257800" y="4315968"/>
            <a:ext cx="6385255" cy="960120"/>
          </a:xfrm>
          <a:prstGeom prst="rect">
            <a:avLst/>
          </a:prstGeom>
          <a:noFill/>
          <a:ln/>
        </p:spPr>
        <p:txBody>
          <a:bodyPr wrap="square" lIns="0" tIns="0" rIns="0" bIns="0" rtlCol="0" anchor="t"/>
          <a:lstStyle/>
          <a:p>
            <a:pPr algn="l" indent="0" marL="0">
              <a:buNone/>
            </a:pPr>
            <a:r>
              <a:rPr lang="en-US" sz="3000" dirty="0">
                <a:solidFill>
                  <a:srgbClr val="F5F5F7"/>
                </a:solidFill>
                <a:latin typeface="Arial" pitchFamily="34" charset="0"/>
                <a:ea typeface="Arial" pitchFamily="34" charset="-122"/>
                <a:cs typeface="Arial" pitchFamily="34" charset="-120"/>
              </a:rPr>
              <a:t>On the ground, rods of the same</a:t>
            </a:r>
            <a:endParaRPr lang="en-US" sz="3000" dirty="0"/>
          </a:p>
          <a:p>
            <a:pPr algn="l" indent="0" marL="0">
              <a:buNone/>
            </a:pPr>
            <a:r>
              <a:rPr lang="en-US" sz="3000" dirty="0">
                <a:solidFill>
                  <a:srgbClr val="F5F5F7"/>
                </a:solidFill>
                <a:latin typeface="Arial" pitchFamily="34" charset="0"/>
                <a:ea typeface="Arial" pitchFamily="34" charset="-122"/>
                <a:cs typeface="Arial" pitchFamily="34" charset="-120"/>
              </a:rPr>
              <a:t>sizes couldn’t stay lit</a:t>
            </a:r>
            <a:endParaRPr lang="en-US" sz="3000" dirty="0"/>
          </a:p>
        </p:txBody>
      </p:sp>
      <p:sp>
        <p:nvSpPr>
          <p:cNvPr id="9" name="Text 7"/>
          <p:cNvSpPr/>
          <p:nvPr/>
        </p:nvSpPr>
        <p:spPr>
          <a:xfrm>
            <a:off x="548640" y="5596128"/>
            <a:ext cx="11094415" cy="877824"/>
          </a:xfrm>
          <a:prstGeom prst="rect">
            <a:avLst/>
          </a:prstGeom>
          <a:noFill/>
          <a:ln/>
        </p:spPr>
        <p:txBody>
          <a:bodyPr wrap="square" lIns="0" tIns="0" rIns="0" bIns="0" rtlCol="0" anchor="b"/>
          <a:lstStyle/>
          <a:p>
            <a:pPr algn="l" indent="0" marL="0">
              <a:buNone/>
            </a:pPr>
            <a:r>
              <a:rPr lang="en-US" sz="2800" dirty="0">
                <a:solidFill>
                  <a:srgbClr val="B8C2D9"/>
                </a:solidFill>
                <a:latin typeface="Arial" pitchFamily="34" charset="0"/>
                <a:ea typeface="Arial" pitchFamily="34" charset="-122"/>
                <a:cs typeface="Arial" pitchFamily="34" charset="-120"/>
              </a:rPr>
              <a:t>Source: Scientific Reports (2018), “The Effect of Gravity</a:t>
            </a:r>
            <a:endParaRPr lang="en-US" sz="2800" dirty="0"/>
          </a:p>
          <a:p>
            <a:pPr algn="l" indent="0" marL="0">
              <a:buNone/>
            </a:pPr>
            <a:r>
              <a:rPr lang="en-US" sz="2800" dirty="0">
                <a:solidFill>
                  <a:srgbClr val="B8C2D9"/>
                </a:solidFill>
                <a:latin typeface="Arial" pitchFamily="34" charset="0"/>
                <a:ea typeface="Arial" pitchFamily="34" charset="-122"/>
                <a:cs typeface="Arial" pitchFamily="34" charset="-120"/>
              </a:rPr>
              <a:t>on Flame Spread over PMMA Cylinders”</a:t>
            </a:r>
            <a:endParaRPr lang="en-US" sz="2800" dirty="0"/>
          </a:p>
        </p:txBody>
      </p:sp>
    </p:spTree>
  </p:cSld>
  <p:clrMapOvr>
    <a:masterClrMapping/>
  </p:clrMapOvr>
  <p:transition spd="med" advClick="1" advTm="18000"/>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20040"/>
            <a:ext cx="11094415" cy="713232"/>
          </a:xfrm>
          <a:prstGeom prst="rect">
            <a:avLst/>
          </a:prstGeom>
          <a:noFill/>
          <a:ln/>
        </p:spPr>
        <p:txBody>
          <a:bodyPr wrap="square" lIns="0" tIns="0" rIns="0" bIns="0" rtlCol="0" anchor="t"/>
          <a:lstStyle/>
          <a:p>
            <a:pPr algn="l" indent="0" marL="0">
              <a:buNone/>
            </a:pPr>
            <a:r>
              <a:rPr lang="en-US" sz="4400" b="1" dirty="0">
                <a:solidFill>
                  <a:srgbClr val="F5F5F7"/>
                </a:solidFill>
                <a:latin typeface="Arial" pitchFamily="34" charset="0"/>
                <a:ea typeface="Arial" pitchFamily="34" charset="-122"/>
                <a:cs typeface="Arial" pitchFamily="34" charset="-120"/>
              </a:rPr>
              <a:t>The next homes in space are different</a:t>
            </a:r>
            <a:endParaRPr lang="en-US" sz="4400" dirty="0"/>
          </a:p>
        </p:txBody>
      </p:sp>
      <p:sp>
        <p:nvSpPr>
          <p:cNvPr id="3" name="Shape 1"/>
          <p:cNvSpPr/>
          <p:nvPr/>
        </p:nvSpPr>
        <p:spPr>
          <a:xfrm>
            <a:off x="548640" y="1188720"/>
            <a:ext cx="4297680" cy="4069080"/>
          </a:xfrm>
          <a:prstGeom prst="rect">
            <a:avLst/>
          </a:prstGeom>
          <a:solidFill>
            <a:srgbClr val="FF4FD8">
              <a:alpha val="7000"/>
            </a:srgbClr>
          </a:solidFill>
          <a:ln w="31750">
            <a:solidFill>
              <a:srgbClr val="FF4FD8"/>
            </a:solidFill>
            <a:prstDash val="dash"/>
          </a:ln>
        </p:spPr>
      </p:sp>
      <p:sp>
        <p:nvSpPr>
          <p:cNvPr id="4" name="Text 2"/>
          <p:cNvSpPr/>
          <p:nvPr/>
        </p:nvSpPr>
        <p:spPr>
          <a:xfrm>
            <a:off x="777240" y="1371600"/>
            <a:ext cx="3840480" cy="3703320"/>
          </a:xfrm>
          <a:prstGeom prst="rect">
            <a:avLst/>
          </a:prstGeom>
          <a:noFill/>
          <a:ln/>
        </p:spPr>
        <p:txBody>
          <a:bodyPr wrap="square" lIns="0" tIns="0" rIns="0" bIns="0" rtlCol="0" anchor="ctr"/>
          <a:lstStyle/>
          <a:p>
            <a:pPr algn="ctr" indent="0" marL="0">
              <a:spcAft>
                <a:spcPts val="600"/>
              </a:spcAft>
              <a:buNone/>
            </a:pPr>
            <a:r>
              <a:rPr lang="en-US" sz="2800" b="1" dirty="0">
                <a:solidFill>
                  <a:srgbClr val="FF4FD8"/>
                </a:solidFill>
                <a:latin typeface="Arial" pitchFamily="34" charset="0"/>
                <a:ea typeface="Arial" pitchFamily="34" charset="-122"/>
                <a:cs typeface="Arial" pitchFamily="34" charset="-120"/>
              </a:rPr>
              <a:t>PLACEHOLDER</a:t>
            </a:r>
            <a:endParaRPr lang="en-US" sz="2800" dirty="0"/>
          </a:p>
          <a:p>
            <a:pPr algn="ctr" indent="0" marL="0">
              <a:spcAft>
                <a:spcPts val="600"/>
              </a:spcAft>
              <a:buNone/>
            </a:pPr>
            <a:r>
              <a:rPr lang="en-US" sz="2800" dirty="0">
                <a:solidFill>
                  <a:srgbClr val="F5F5F7"/>
                </a:solidFill>
                <a:latin typeface="Arial" pitchFamily="34" charset="0"/>
                <a:ea typeface="Arial" pitchFamily="34" charset="-122"/>
                <a:cs typeface="Arial" pitchFamily="34" charset="-120"/>
              </a:rPr>
              <a:t>NASA concept art: a Moon habitat</a:t>
            </a:r>
            <a:endParaRPr lang="en-US" sz="2800" dirty="0"/>
          </a:p>
          <a:p>
            <a:pPr algn="ctr" indent="0" marL="0">
              <a:spcAft>
                <a:spcPts val="600"/>
              </a:spcAft>
              <a:buNone/>
            </a:pPr>
            <a:r>
              <a:rPr lang="en-US" sz="2800" dirty="0">
                <a:solidFill>
                  <a:srgbClr val="F5F5F7"/>
                </a:solidFill>
                <a:latin typeface="Arial" pitchFamily="34" charset="0"/>
                <a:ea typeface="Arial" pitchFamily="34" charset="-122"/>
                <a:cs typeface="Arial" pitchFamily="34" charset="-120"/>
              </a:rPr>
              <a:t>Credit: NASA</a:t>
            </a:r>
            <a:endParaRPr lang="en-US" sz="2800" dirty="0"/>
          </a:p>
        </p:txBody>
      </p:sp>
      <p:sp>
        <p:nvSpPr>
          <p:cNvPr id="5" name="Text 3"/>
          <p:cNvSpPr/>
          <p:nvPr/>
        </p:nvSpPr>
        <p:spPr>
          <a:xfrm>
            <a:off x="5257800" y="1143000"/>
            <a:ext cx="6385255" cy="594360"/>
          </a:xfrm>
          <a:prstGeom prst="rect">
            <a:avLst/>
          </a:prstGeom>
          <a:noFill/>
          <a:ln/>
        </p:spPr>
        <p:txBody>
          <a:bodyPr wrap="square" lIns="0" tIns="0" rIns="0" bIns="0" rtlCol="0" anchor="t"/>
          <a:lstStyle/>
          <a:p>
            <a:pPr algn="l" indent="0" marL="0">
              <a:buNone/>
            </a:pPr>
            <a:r>
              <a:rPr lang="en-US" sz="3600" b="1" dirty="0">
                <a:solidFill>
                  <a:srgbClr val="F5F5F7"/>
                </a:solidFill>
                <a:latin typeface="Arial" pitchFamily="34" charset="0"/>
                <a:ea typeface="Arial" pitchFamily="34" charset="-122"/>
                <a:cs typeface="Arial" pitchFamily="34" charset="-120"/>
              </a:rPr>
              <a:t>Moon base</a:t>
            </a:r>
            <a:endParaRPr lang="en-US" sz="3600" dirty="0"/>
          </a:p>
        </p:txBody>
      </p:sp>
      <p:sp>
        <p:nvSpPr>
          <p:cNvPr id="6" name="Text 4"/>
          <p:cNvSpPr/>
          <p:nvPr/>
        </p:nvSpPr>
        <p:spPr>
          <a:xfrm>
            <a:off x="5257800" y="1664208"/>
            <a:ext cx="6385255" cy="1325880"/>
          </a:xfrm>
          <a:prstGeom prst="rect">
            <a:avLst/>
          </a:prstGeom>
          <a:noFill/>
          <a:ln/>
        </p:spPr>
        <p:txBody>
          <a:bodyPr wrap="square" lIns="0" tIns="0" rIns="0" bIns="0" rtlCol="0" anchor="t"/>
          <a:lstStyle/>
          <a:p>
            <a:pPr algn="l" indent="0" marL="0">
              <a:buNone/>
            </a:pPr>
            <a:r>
              <a:rPr lang="en-US" sz="8000" b="1" dirty="0">
                <a:solidFill>
                  <a:srgbClr val="FFD60A"/>
                </a:solidFill>
                <a:latin typeface="Arial" pitchFamily="34" charset="0"/>
                <a:ea typeface="Arial" pitchFamily="34" charset="-122"/>
                <a:cs typeface="Arial" pitchFamily="34" charset="-120"/>
              </a:rPr>
              <a:t>1/6 g</a:t>
            </a:r>
            <a:endParaRPr lang="en-US" sz="8000" dirty="0"/>
          </a:p>
        </p:txBody>
      </p:sp>
      <p:sp>
        <p:nvSpPr>
          <p:cNvPr id="7" name="Text 5"/>
          <p:cNvSpPr/>
          <p:nvPr/>
        </p:nvSpPr>
        <p:spPr>
          <a:xfrm>
            <a:off x="5257800" y="2971800"/>
            <a:ext cx="6385255" cy="502920"/>
          </a:xfrm>
          <a:prstGeom prst="rect">
            <a:avLst/>
          </a:prstGeom>
          <a:noFill/>
          <a:ln/>
        </p:spPr>
        <p:txBody>
          <a:bodyPr wrap="square" lIns="0" tIns="0" rIns="0" bIns="0" rtlCol="0" anchor="t"/>
          <a:lstStyle/>
          <a:p>
            <a:pPr algn="l" indent="0" marL="0">
              <a:buNone/>
            </a:pPr>
            <a:r>
              <a:rPr lang="en-US" sz="3000" dirty="0">
                <a:solidFill>
                  <a:srgbClr val="F5F5F7"/>
                </a:solidFill>
                <a:latin typeface="Arial" pitchFamily="34" charset="0"/>
                <a:ea typeface="Arial" pitchFamily="34" charset="-122"/>
                <a:cs typeface="Arial" pitchFamily="34" charset="-120"/>
              </a:rPr>
              <a:t>of Earth’s gravity (0.17 g)</a:t>
            </a:r>
            <a:endParaRPr lang="en-US" sz="3000" dirty="0"/>
          </a:p>
        </p:txBody>
      </p:sp>
      <p:sp>
        <p:nvSpPr>
          <p:cNvPr id="8" name="Text 6"/>
          <p:cNvSpPr/>
          <p:nvPr/>
        </p:nvSpPr>
        <p:spPr>
          <a:xfrm>
            <a:off x="5257800" y="3675888"/>
            <a:ext cx="6385255" cy="914400"/>
          </a:xfrm>
          <a:prstGeom prst="rect">
            <a:avLst/>
          </a:prstGeom>
          <a:noFill/>
          <a:ln/>
        </p:spPr>
        <p:txBody>
          <a:bodyPr wrap="square" lIns="0" tIns="0" rIns="0" bIns="0" rtlCol="0" anchor="t"/>
          <a:lstStyle/>
          <a:p>
            <a:pPr algn="l" indent="0" marL="0">
              <a:buNone/>
            </a:pPr>
            <a:r>
              <a:rPr lang="en-US" sz="5400" b="1" dirty="0">
                <a:solidFill>
                  <a:srgbClr val="FFD60A"/>
                </a:solidFill>
                <a:latin typeface="Arial" pitchFamily="34" charset="0"/>
                <a:ea typeface="Arial" pitchFamily="34" charset="-122"/>
                <a:cs typeface="Arial" pitchFamily="34" charset="-120"/>
              </a:rPr>
              <a:t>34% </a:t>
            </a:r>
            <a:pPr algn="l" indent="0" marL="0">
              <a:buNone/>
            </a:pPr>
            <a:r>
              <a:rPr lang="en-US" sz="5400" b="1" dirty="0">
                <a:solidFill>
                  <a:srgbClr val="FFD60A"/>
                </a:solidFill>
                <a:latin typeface="Arial" pitchFamily="34" charset="0"/>
                <a:ea typeface="Arial" pitchFamily="34" charset="-122"/>
                <a:cs typeface="Arial" pitchFamily="34" charset="-120"/>
              </a:rPr>
              <a:t>O</a:t>
            </a:r>
            <a:pPr algn="l" indent="0" marL="0">
              <a:buNone/>
            </a:pPr>
            <a:r>
              <a:rPr lang="en-US" sz="5400" b="1" baseline="-25000" dirty="0">
                <a:solidFill>
                  <a:srgbClr val="FFD60A"/>
                </a:solidFill>
                <a:latin typeface="Arial" pitchFamily="34" charset="0"/>
                <a:ea typeface="Arial" pitchFamily="34" charset="-122"/>
                <a:cs typeface="Arial" pitchFamily="34" charset="-120"/>
              </a:rPr>
              <a:t>2</a:t>
            </a:r>
            <a:pPr algn="l" indent="0" marL="0">
              <a:buNone/>
            </a:pPr>
            <a:r>
              <a:rPr lang="en-US" sz="5400" b="1" dirty="0">
                <a:solidFill>
                  <a:srgbClr val="FFD60A"/>
                </a:solidFill>
                <a:latin typeface="Arial" pitchFamily="34" charset="0"/>
                <a:ea typeface="Arial" pitchFamily="34" charset="-122"/>
                <a:cs typeface="Arial" pitchFamily="34" charset="-120"/>
              </a:rPr>
              <a:t> at 8.2 psi</a:t>
            </a:r>
            <a:endParaRPr lang="en-US" sz="5400" dirty="0"/>
          </a:p>
        </p:txBody>
      </p:sp>
      <p:sp>
        <p:nvSpPr>
          <p:cNvPr id="9" name="Text 7"/>
          <p:cNvSpPr/>
          <p:nvPr/>
        </p:nvSpPr>
        <p:spPr>
          <a:xfrm>
            <a:off x="5257800" y="4681728"/>
            <a:ext cx="6385255" cy="502920"/>
          </a:xfrm>
          <a:prstGeom prst="rect">
            <a:avLst/>
          </a:prstGeom>
          <a:noFill/>
          <a:ln/>
        </p:spPr>
        <p:txBody>
          <a:bodyPr wrap="square" lIns="0" tIns="0" rIns="0" bIns="0" rtlCol="0" anchor="t"/>
          <a:lstStyle/>
          <a:p>
            <a:pPr algn="l" indent="0" marL="0">
              <a:buNone/>
            </a:pPr>
            <a:r>
              <a:rPr lang="en-US" sz="3000" dirty="0">
                <a:solidFill>
                  <a:srgbClr val="F5F5F7"/>
                </a:solidFill>
                <a:latin typeface="Arial" pitchFamily="34" charset="0"/>
                <a:ea typeface="Arial" pitchFamily="34" charset="-122"/>
                <a:cs typeface="Arial" pitchFamily="34" charset="-120"/>
              </a:rPr>
              <a:t>cabin air NASA has studied</a:t>
            </a:r>
            <a:endParaRPr lang="en-US" sz="3000" dirty="0"/>
          </a:p>
        </p:txBody>
      </p:sp>
      <p:sp>
        <p:nvSpPr>
          <p:cNvPr id="10" name="Text 8"/>
          <p:cNvSpPr/>
          <p:nvPr/>
        </p:nvSpPr>
        <p:spPr>
          <a:xfrm>
            <a:off x="548640" y="5596128"/>
            <a:ext cx="11094415" cy="877824"/>
          </a:xfrm>
          <a:prstGeom prst="rect">
            <a:avLst/>
          </a:prstGeom>
          <a:noFill/>
          <a:ln/>
        </p:spPr>
        <p:txBody>
          <a:bodyPr wrap="square" lIns="0" tIns="0" rIns="0" bIns="0" rtlCol="0" anchor="b"/>
          <a:lstStyle/>
          <a:p>
            <a:pPr algn="l" indent="0" marL="0">
              <a:buNone/>
            </a:pPr>
            <a:r>
              <a:rPr lang="en-US" sz="2800" dirty="0">
                <a:solidFill>
                  <a:srgbClr val="B8C2D9"/>
                </a:solidFill>
                <a:latin typeface="Arial" pitchFamily="34" charset="0"/>
                <a:ea typeface="Arial" pitchFamily="34" charset="-122"/>
                <a:cs typeface="Arial" pitchFamily="34" charset="-120"/>
              </a:rPr>
              <a:t>Sources: NASA evidence report (2015), NTRS 20150021491</a:t>
            </a:r>
            <a:endParaRPr lang="en-US" sz="2800" dirty="0"/>
          </a:p>
          <a:p>
            <a:pPr algn="l" indent="0" marL="0">
              <a:buNone/>
            </a:pPr>
            <a:r>
              <a:rPr lang="en-US" sz="2800" dirty="0">
                <a:solidFill>
                  <a:srgbClr val="B8C2D9"/>
                </a:solidFill>
                <a:latin typeface="Arial" pitchFamily="34" charset="0"/>
                <a:ea typeface="Arial" pitchFamily="34" charset="-122"/>
                <a:cs typeface="Arial" pitchFamily="34" charset="-120"/>
              </a:rPr>
              <a:t>1/6 g (0.17 g): standard value, as used in the app</a:t>
            </a:r>
            <a:endParaRPr lang="en-US" sz="2800" dirty="0"/>
          </a:p>
        </p:txBody>
      </p:sp>
    </p:spTree>
  </p:cSld>
  <p:clrMapOvr>
    <a:masterClrMapping/>
  </p:clrMapOvr>
  <p:transition spd="med" advClick="1" advTm="16000"/>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1371600"/>
            <a:ext cx="11094415" cy="594360"/>
          </a:xfrm>
          <a:prstGeom prst="rect">
            <a:avLst/>
          </a:prstGeom>
          <a:noFill/>
          <a:ln/>
        </p:spPr>
        <p:txBody>
          <a:bodyPr wrap="square" lIns="0" tIns="0" rIns="0" bIns="0" rtlCol="0" anchor="t"/>
          <a:lstStyle/>
          <a:p>
            <a:pPr algn="l" indent="0" marL="0">
              <a:buNone/>
            </a:pPr>
            <a:r>
              <a:rPr lang="en-US" sz="3600" dirty="0">
                <a:solidFill>
                  <a:srgbClr val="B8C2D9"/>
                </a:solidFill>
                <a:latin typeface="Arial" pitchFamily="34" charset="0"/>
                <a:ea typeface="Arial" pitchFamily="34" charset="-122"/>
                <a:cs typeface="Arial" pitchFamily="34" charset="-120"/>
              </a:rPr>
              <a:t>NASA Space Apps 2026</a:t>
            </a:r>
            <a:endParaRPr lang="en-US" sz="3600" dirty="0"/>
          </a:p>
        </p:txBody>
      </p:sp>
      <p:sp>
        <p:nvSpPr>
          <p:cNvPr id="3" name="Text 1"/>
          <p:cNvSpPr/>
          <p:nvPr/>
        </p:nvSpPr>
        <p:spPr>
          <a:xfrm>
            <a:off x="548640" y="2011680"/>
            <a:ext cx="11094415" cy="1371600"/>
          </a:xfrm>
          <a:prstGeom prst="rect">
            <a:avLst/>
          </a:prstGeom>
          <a:noFill/>
          <a:ln/>
        </p:spPr>
        <p:txBody>
          <a:bodyPr wrap="square" lIns="0" tIns="0" rIns="0" bIns="0" rtlCol="0" anchor="t"/>
          <a:lstStyle/>
          <a:p>
            <a:pPr algn="l" indent="0" marL="0">
              <a:buNone/>
            </a:pPr>
            <a:r>
              <a:rPr lang="en-US" sz="8800" b="1" dirty="0">
                <a:solidFill>
                  <a:srgbClr val="F5F5F7"/>
                </a:solidFill>
                <a:latin typeface="Arial" pitchFamily="34" charset="0"/>
                <a:ea typeface="Arial" pitchFamily="34" charset="-122"/>
                <a:cs typeface="Arial" pitchFamily="34" charset="-120"/>
              </a:rPr>
              <a:t>Flame in Freefall:</a:t>
            </a:r>
            <a:endParaRPr lang="en-US" sz="8800" dirty="0"/>
          </a:p>
        </p:txBody>
      </p:sp>
      <p:sp>
        <p:nvSpPr>
          <p:cNvPr id="4" name="Text 2"/>
          <p:cNvSpPr/>
          <p:nvPr/>
        </p:nvSpPr>
        <p:spPr>
          <a:xfrm>
            <a:off x="548640" y="3611880"/>
            <a:ext cx="11094415" cy="1188720"/>
          </a:xfrm>
          <a:prstGeom prst="rect">
            <a:avLst/>
          </a:prstGeom>
          <a:noFill/>
          <a:ln/>
        </p:spPr>
        <p:txBody>
          <a:bodyPr wrap="square" lIns="0" tIns="0" rIns="0" bIns="0" rtlCol="0" anchor="t"/>
          <a:lstStyle/>
          <a:p>
            <a:pPr algn="l" indent="0" marL="0">
              <a:buNone/>
            </a:pPr>
            <a:r>
              <a:rPr lang="en-US" sz="3400" dirty="0">
                <a:solidFill>
                  <a:srgbClr val="F5F5F7"/>
                </a:solidFill>
                <a:latin typeface="Arial" pitchFamily="34" charset="0"/>
                <a:ea typeface="Arial" pitchFamily="34" charset="-122"/>
                <a:cs typeface="Arial" pitchFamily="34" charset="-120"/>
              </a:rPr>
              <a:t>AI-Powered Fire Safety Insights</a:t>
            </a:r>
            <a:endParaRPr lang="en-US" sz="3400" dirty="0"/>
          </a:p>
          <a:p>
            <a:pPr algn="l" indent="0" marL="0">
              <a:buNone/>
            </a:pPr>
            <a:r>
              <a:rPr lang="en-US" sz="3400" dirty="0">
                <a:solidFill>
                  <a:srgbClr val="F5F5F7"/>
                </a:solidFill>
                <a:latin typeface="Arial" pitchFamily="34" charset="0"/>
                <a:ea typeface="Arial" pitchFamily="34" charset="-122"/>
                <a:cs typeface="Arial" pitchFamily="34" charset="-120"/>
              </a:rPr>
              <a:t>from Microgravity Combustion Data</a:t>
            </a:r>
            <a:endParaRPr lang="en-US" sz="3400" dirty="0"/>
          </a:p>
        </p:txBody>
      </p:sp>
    </p:spTree>
  </p:cSld>
  <p:clrMapOvr>
    <a:masterClrMapping/>
  </p:clrMapOvr>
  <p:transition spd="med" advClick="1" advTm="11000"/>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411480"/>
            <a:ext cx="11094415" cy="914400"/>
          </a:xfrm>
          <a:prstGeom prst="rect">
            <a:avLst/>
          </a:prstGeom>
          <a:noFill/>
          <a:ln/>
        </p:spPr>
        <p:txBody>
          <a:bodyPr wrap="square" lIns="0" tIns="0" rIns="0" bIns="0" rtlCol="0" anchor="t"/>
          <a:lstStyle/>
          <a:p>
            <a:pPr algn="l" indent="0" marL="0">
              <a:buNone/>
            </a:pPr>
            <a:r>
              <a:rPr lang="en-US" sz="6000" b="1" dirty="0">
                <a:solidFill>
                  <a:srgbClr val="F5F5F7"/>
                </a:solidFill>
                <a:latin typeface="Arial" pitchFamily="34" charset="0"/>
                <a:ea typeface="Arial" pitchFamily="34" charset="-122"/>
                <a:cs typeface="Arial" pitchFamily="34" charset="-120"/>
              </a:rPr>
              <a:t>Will It Burn?</a:t>
            </a:r>
            <a:endParaRPr lang="en-US" sz="6000" dirty="0"/>
          </a:p>
        </p:txBody>
      </p:sp>
      <p:sp>
        <p:nvSpPr>
          <p:cNvPr id="3" name="Shape 1"/>
          <p:cNvSpPr/>
          <p:nvPr/>
        </p:nvSpPr>
        <p:spPr>
          <a:xfrm>
            <a:off x="548640" y="2240280"/>
            <a:ext cx="3383280" cy="3291840"/>
          </a:xfrm>
          <a:prstGeom prst="roundRect">
            <a:avLst>
              <a:gd name="adj" fmla="val 5000"/>
            </a:avLst>
          </a:prstGeom>
          <a:solidFill>
            <a:srgbClr val="0F1833">
              <a:alpha val="88000"/>
            </a:srgbClr>
          </a:solidFill>
          <a:ln w="15875">
            <a:solidFill>
              <a:srgbClr val="2B3B6B"/>
            </a:solidFill>
            <a:prstDash val="solid"/>
          </a:ln>
        </p:spPr>
      </p:sp>
      <p:sp>
        <p:nvSpPr>
          <p:cNvPr id="4" name="Text 2"/>
          <p:cNvSpPr/>
          <p:nvPr/>
        </p:nvSpPr>
        <p:spPr>
          <a:xfrm>
            <a:off x="731520" y="2468880"/>
            <a:ext cx="3017520" cy="1051560"/>
          </a:xfrm>
          <a:prstGeom prst="rect">
            <a:avLst/>
          </a:prstGeom>
          <a:noFill/>
          <a:ln/>
        </p:spPr>
        <p:txBody>
          <a:bodyPr wrap="square" lIns="0" tIns="0" rIns="0" bIns="0" rtlCol="0" anchor="ctr"/>
          <a:lstStyle/>
          <a:p>
            <a:pPr algn="ctr" indent="0" marL="0">
              <a:buNone/>
            </a:pPr>
            <a:r>
              <a:rPr lang="en-US" sz="3200" b="1" dirty="0">
                <a:solidFill>
                  <a:srgbClr val="F5F5F7"/>
                </a:solidFill>
                <a:latin typeface="Arial" pitchFamily="34" charset="0"/>
                <a:ea typeface="Arial" pitchFamily="34" charset="-122"/>
                <a:cs typeface="Arial" pitchFamily="34" charset="-120"/>
              </a:rPr>
              <a:t>Your question</a:t>
            </a:r>
            <a:endParaRPr lang="en-US" sz="3200" dirty="0"/>
          </a:p>
        </p:txBody>
      </p:sp>
      <p:sp>
        <p:nvSpPr>
          <p:cNvPr id="5" name="Text 3"/>
          <p:cNvSpPr/>
          <p:nvPr/>
        </p:nvSpPr>
        <p:spPr>
          <a:xfrm>
            <a:off x="731520" y="3611880"/>
            <a:ext cx="3017520" cy="1737360"/>
          </a:xfrm>
          <a:prstGeom prst="rect">
            <a:avLst/>
          </a:prstGeom>
          <a:noFill/>
          <a:ln/>
        </p:spPr>
        <p:txBody>
          <a:bodyPr wrap="square" lIns="0" tIns="0" rIns="0" bIns="0" rtlCol="0" anchor="t"/>
          <a:lstStyle/>
          <a:p>
            <a:pPr algn="ctr" indent="0" marL="0">
              <a:buNone/>
            </a:pPr>
            <a:r>
              <a:rPr lang="en-US" sz="2800" dirty="0">
                <a:solidFill>
                  <a:srgbClr val="B8C2D9"/>
                </a:solidFill>
                <a:latin typeface="Arial" pitchFamily="34" charset="0"/>
                <a:ea typeface="Arial" pitchFamily="34" charset="-122"/>
                <a:cs typeface="Arial" pitchFamily="34" charset="-120"/>
              </a:rPr>
              <a:t>“Will acrylic burn on the Space Station?”</a:t>
            </a:r>
            <a:endParaRPr lang="en-US" sz="2800" dirty="0"/>
          </a:p>
        </p:txBody>
      </p:sp>
      <p:sp>
        <p:nvSpPr>
          <p:cNvPr id="6" name="Shape 4"/>
          <p:cNvSpPr/>
          <p:nvPr/>
        </p:nvSpPr>
        <p:spPr>
          <a:xfrm>
            <a:off x="3985184" y="3657600"/>
            <a:ext cx="365760" cy="457200"/>
          </a:xfrm>
          <a:prstGeom prst="rightArrow">
            <a:avLst/>
          </a:prstGeom>
          <a:solidFill>
            <a:srgbClr val="FF9F0A"/>
          </a:solidFill>
          <a:ln w="12700">
            <a:solidFill>
              <a:srgbClr val="FF9F0A"/>
            </a:solidFill>
            <a:prstDash val="solid"/>
          </a:ln>
        </p:spPr>
      </p:sp>
      <p:sp>
        <p:nvSpPr>
          <p:cNvPr id="7" name="Shape 5"/>
          <p:cNvSpPr/>
          <p:nvPr/>
        </p:nvSpPr>
        <p:spPr>
          <a:xfrm>
            <a:off x="4404208" y="2240280"/>
            <a:ext cx="3383280" cy="3291840"/>
          </a:xfrm>
          <a:prstGeom prst="roundRect">
            <a:avLst>
              <a:gd name="adj" fmla="val 5000"/>
            </a:avLst>
          </a:prstGeom>
          <a:solidFill>
            <a:srgbClr val="0F1833">
              <a:alpha val="88000"/>
            </a:srgbClr>
          </a:solidFill>
          <a:ln w="15875">
            <a:solidFill>
              <a:srgbClr val="2B3B6B"/>
            </a:solidFill>
            <a:prstDash val="solid"/>
          </a:ln>
        </p:spPr>
      </p:sp>
      <p:sp>
        <p:nvSpPr>
          <p:cNvPr id="8" name="Text 6"/>
          <p:cNvSpPr/>
          <p:nvPr/>
        </p:nvSpPr>
        <p:spPr>
          <a:xfrm>
            <a:off x="4587088" y="2468880"/>
            <a:ext cx="3017520" cy="1051560"/>
          </a:xfrm>
          <a:prstGeom prst="rect">
            <a:avLst/>
          </a:prstGeom>
          <a:noFill/>
          <a:ln/>
        </p:spPr>
        <p:txBody>
          <a:bodyPr wrap="square" lIns="0" tIns="0" rIns="0" bIns="0" rtlCol="0" anchor="ctr"/>
          <a:lstStyle/>
          <a:p>
            <a:pPr algn="ctr" indent="0" marL="0">
              <a:buNone/>
            </a:pPr>
            <a:r>
              <a:rPr lang="en-US" sz="3200" b="1" dirty="0">
                <a:solidFill>
                  <a:srgbClr val="F5F5F7"/>
                </a:solidFill>
                <a:latin typeface="Arial" pitchFamily="34" charset="0"/>
                <a:ea typeface="Arial" pitchFamily="34" charset="-122"/>
                <a:cs typeface="Arial" pitchFamily="34" charset="-120"/>
              </a:rPr>
              <a:t>Check against NASA’s tests</a:t>
            </a:r>
            <a:endParaRPr lang="en-US" sz="3200" dirty="0"/>
          </a:p>
        </p:txBody>
      </p:sp>
      <p:sp>
        <p:nvSpPr>
          <p:cNvPr id="9" name="Text 7"/>
          <p:cNvSpPr/>
          <p:nvPr/>
        </p:nvSpPr>
        <p:spPr>
          <a:xfrm>
            <a:off x="4587088" y="3611880"/>
            <a:ext cx="3017520" cy="1737360"/>
          </a:xfrm>
          <a:prstGeom prst="rect">
            <a:avLst/>
          </a:prstGeom>
          <a:noFill/>
          <a:ln/>
        </p:spPr>
        <p:txBody>
          <a:bodyPr wrap="square" lIns="0" tIns="0" rIns="0" bIns="0" rtlCol="0" anchor="t"/>
          <a:lstStyle/>
          <a:p>
            <a:pPr algn="ctr" indent="0" marL="0">
              <a:buNone/>
            </a:pPr>
            <a:r>
              <a:rPr lang="en-US" sz="2800" dirty="0">
                <a:solidFill>
                  <a:srgbClr val="B8C2D9"/>
                </a:solidFill>
                <a:latin typeface="Arial" pitchFamily="34" charset="0"/>
                <a:ea typeface="Arial" pitchFamily="34" charset="-122"/>
                <a:cs typeface="Arial" pitchFamily="34" charset="-120"/>
              </a:rPr>
              <a:t>BASS-II fire tests, flown on the Station</a:t>
            </a:r>
            <a:endParaRPr lang="en-US" sz="2800" dirty="0"/>
          </a:p>
        </p:txBody>
      </p:sp>
      <p:sp>
        <p:nvSpPr>
          <p:cNvPr id="10" name="Shape 8"/>
          <p:cNvSpPr/>
          <p:nvPr/>
        </p:nvSpPr>
        <p:spPr>
          <a:xfrm>
            <a:off x="7840751" y="3657600"/>
            <a:ext cx="365760" cy="457200"/>
          </a:xfrm>
          <a:prstGeom prst="rightArrow">
            <a:avLst/>
          </a:prstGeom>
          <a:solidFill>
            <a:srgbClr val="FF9F0A"/>
          </a:solidFill>
          <a:ln w="12700">
            <a:solidFill>
              <a:srgbClr val="FF9F0A"/>
            </a:solidFill>
            <a:prstDash val="solid"/>
          </a:ln>
        </p:spPr>
      </p:sp>
      <p:sp>
        <p:nvSpPr>
          <p:cNvPr id="11" name="Shape 9"/>
          <p:cNvSpPr/>
          <p:nvPr/>
        </p:nvSpPr>
        <p:spPr>
          <a:xfrm>
            <a:off x="8259775" y="2240280"/>
            <a:ext cx="3383280" cy="3291840"/>
          </a:xfrm>
          <a:prstGeom prst="roundRect">
            <a:avLst>
              <a:gd name="adj" fmla="val 5000"/>
            </a:avLst>
          </a:prstGeom>
          <a:solidFill>
            <a:srgbClr val="0F1833">
              <a:alpha val="88000"/>
            </a:srgbClr>
          </a:solidFill>
          <a:ln w="15875">
            <a:solidFill>
              <a:srgbClr val="2B3B6B"/>
            </a:solidFill>
            <a:prstDash val="solid"/>
          </a:ln>
        </p:spPr>
      </p:sp>
      <p:sp>
        <p:nvSpPr>
          <p:cNvPr id="12" name="Text 10"/>
          <p:cNvSpPr/>
          <p:nvPr/>
        </p:nvSpPr>
        <p:spPr>
          <a:xfrm>
            <a:off x="8442655" y="2468880"/>
            <a:ext cx="3017520" cy="1051560"/>
          </a:xfrm>
          <a:prstGeom prst="rect">
            <a:avLst/>
          </a:prstGeom>
          <a:noFill/>
          <a:ln/>
        </p:spPr>
        <p:txBody>
          <a:bodyPr wrap="square" lIns="0" tIns="0" rIns="0" bIns="0" rtlCol="0" anchor="ctr"/>
          <a:lstStyle/>
          <a:p>
            <a:pPr algn="ctr" indent="0" marL="0">
              <a:buNone/>
            </a:pPr>
            <a:r>
              <a:rPr lang="en-US" sz="3200" b="1" dirty="0">
                <a:solidFill>
                  <a:srgbClr val="F5F5F7"/>
                </a:solidFill>
                <a:latin typeface="Arial" pitchFamily="34" charset="0"/>
                <a:ea typeface="Arial" pitchFamily="34" charset="-122"/>
                <a:cs typeface="Arial" pitchFamily="34" charset="-120"/>
              </a:rPr>
              <a:t>Answer</a:t>
            </a:r>
            <a:endParaRPr lang="en-US" sz="3200" dirty="0"/>
          </a:p>
        </p:txBody>
      </p:sp>
      <p:sp>
        <p:nvSpPr>
          <p:cNvPr id="13" name="Text 11"/>
          <p:cNvSpPr/>
          <p:nvPr/>
        </p:nvSpPr>
        <p:spPr>
          <a:xfrm>
            <a:off x="8442655" y="3611880"/>
            <a:ext cx="3017520" cy="1737360"/>
          </a:xfrm>
          <a:prstGeom prst="rect">
            <a:avLst/>
          </a:prstGeom>
          <a:noFill/>
          <a:ln/>
        </p:spPr>
        <p:txBody>
          <a:bodyPr wrap="square" lIns="0" tIns="0" rIns="0" bIns="0" rtlCol="0" anchor="t"/>
          <a:lstStyle/>
          <a:p>
            <a:pPr algn="ctr" indent="0" marL="0">
              <a:buNone/>
            </a:pPr>
            <a:r>
              <a:rPr lang="en-US" sz="3600" b="1" dirty="0">
                <a:solidFill>
                  <a:srgbClr val="FF9F0A"/>
                </a:solidFill>
                <a:latin typeface="Arial" pitchFamily="34" charset="0"/>
                <a:ea typeface="Arial" pitchFamily="34" charset="-122"/>
                <a:cs typeface="Arial" pitchFamily="34" charset="-120"/>
              </a:rPr>
              <a:t>Burned</a:t>
            </a:r>
            <a:endParaRPr lang="en-US" sz="2800" dirty="0"/>
          </a:p>
          <a:p>
            <a:pPr algn="ctr" indent="0" marL="0">
              <a:buNone/>
            </a:pPr>
            <a:r>
              <a:rPr lang="en-US" sz="3600" b="1" dirty="0">
                <a:solidFill>
                  <a:srgbClr val="FFD60A"/>
                </a:solidFill>
                <a:latin typeface="Arial" pitchFamily="34" charset="0"/>
                <a:ea typeface="Arial" pitchFamily="34" charset="-122"/>
                <a:cs typeface="Arial" pitchFamily="34" charset="-120"/>
              </a:rPr>
              <a:t>No data</a:t>
            </a:r>
            <a:endParaRPr lang="en-US" sz="2800" dirty="0"/>
          </a:p>
        </p:txBody>
      </p:sp>
    </p:spTree>
  </p:cSld>
  <p:clrMapOvr>
    <a:masterClrMapping/>
  </p:clrMapOvr>
  <p:transition spd="med" advClick="1" advTm="13000"/>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292608"/>
            <a:ext cx="11094415" cy="1298448"/>
          </a:xfrm>
          <a:prstGeom prst="rect">
            <a:avLst/>
          </a:prstGeom>
          <a:noFill/>
          <a:ln/>
        </p:spPr>
        <p:txBody>
          <a:bodyPr wrap="square" lIns="0" tIns="0" rIns="0" bIns="0" rtlCol="0" anchor="t"/>
          <a:lstStyle/>
          <a:p>
            <a:pPr algn="l" indent="0" marL="0">
              <a:buNone/>
            </a:pPr>
            <a:r>
              <a:rPr lang="en-US" sz="4000" b="1" dirty="0">
                <a:solidFill>
                  <a:srgbClr val="FF9F0A"/>
                </a:solidFill>
                <a:latin typeface="Arial" pitchFamily="34" charset="0"/>
                <a:ea typeface="Arial" pitchFamily="34" charset="-122"/>
                <a:cs typeface="Arial" pitchFamily="34" charset="-120"/>
              </a:rPr>
              <a:t>20 of 20</a:t>
            </a:r>
            <a:pPr algn="l" indent="0" marL="0">
              <a:buNone/>
            </a:pPr>
            <a:r>
              <a:rPr lang="en-US" sz="4000" b="1" dirty="0">
                <a:solidFill>
                  <a:srgbClr val="F5F5F7"/>
                </a:solidFill>
                <a:latin typeface="Arial" pitchFamily="34" charset="0"/>
                <a:ea typeface="Arial" pitchFamily="34" charset="-122"/>
                <a:cs typeface="Arial" pitchFamily="34" charset="-120"/>
              </a:rPr>
              <a:t> acrylic sheets burned,</a:t>
            </a:r>
            <a:endParaRPr lang="en-US" sz="4000" dirty="0"/>
          </a:p>
          <a:p>
            <a:pPr algn="l" indent="0" marL="0">
              <a:buNone/>
            </a:pPr>
            <a:r>
              <a:rPr lang="en-US" sz="4000" b="1" dirty="0">
                <a:solidFill>
                  <a:srgbClr val="F5F5F7"/>
                </a:solidFill>
                <a:latin typeface="Arial" pitchFamily="34" charset="0"/>
                <a:ea typeface="Arial" pitchFamily="34" charset="-122"/>
                <a:cs typeface="Arial" pitchFamily="34" charset="-120"/>
              </a:rPr>
              <a:t>for 6 to 31 minutes each</a:t>
            </a:r>
            <a:endParaRPr lang="en-US" sz="4000" dirty="0"/>
          </a:p>
        </p:txBody>
      </p:sp>
      <p:sp>
        <p:nvSpPr>
          <p:cNvPr id="3" name="Shape 1"/>
          <p:cNvSpPr/>
          <p:nvPr/>
        </p:nvSpPr>
        <p:spPr>
          <a:xfrm>
            <a:off x="746608" y="1719072"/>
            <a:ext cx="10698480" cy="4075950"/>
          </a:xfrm>
          <a:prstGeom prst="roundRect">
            <a:avLst>
              <a:gd name="adj" fmla="val 4487"/>
            </a:avLst>
          </a:prstGeom>
          <a:solidFill>
            <a:srgbClr val="000000"/>
          </a:solidFill>
          <a:ln w="19050">
            <a:solidFill>
              <a:srgbClr val="3A4A7A"/>
            </a:solidFill>
            <a:prstDash val="solid"/>
          </a:ln>
        </p:spPr>
      </p:sp>
      <p:pic>
        <p:nvPicPr>
          <p:cNvPr id="4" name="Image 0" descr="C:\FlameScope\docs\video\screens\verdict-burned.png">    </p:cNvPr>
          <p:cNvPicPr>
            <a:picLocks noChangeAspect="1"/>
          </p:cNvPicPr>
          <p:nvPr/>
        </p:nvPicPr>
        <p:blipFill>
          <a:blip r:embed="rId1"/>
          <a:stretch>
            <a:fillRect/>
          </a:stretch>
        </p:blipFill>
        <p:spPr>
          <a:xfrm>
            <a:off x="838048" y="1810512"/>
            <a:ext cx="10515600" cy="3893070"/>
          </a:xfrm>
          <a:prstGeom prst="rect">
            <a:avLst/>
          </a:prstGeom>
        </p:spPr>
      </p:pic>
      <p:sp>
        <p:nvSpPr>
          <p:cNvPr id="5" name="Text 2"/>
          <p:cNvSpPr/>
          <p:nvPr/>
        </p:nvSpPr>
        <p:spPr>
          <a:xfrm>
            <a:off x="548640" y="6016752"/>
            <a:ext cx="11094415" cy="457200"/>
          </a:xfrm>
          <a:prstGeom prst="rect">
            <a:avLst/>
          </a:prstGeom>
          <a:noFill/>
          <a:ln/>
        </p:spPr>
        <p:txBody>
          <a:bodyPr wrap="square" lIns="0" tIns="0" rIns="0" bIns="0" rtlCol="0" anchor="b"/>
          <a:lstStyle/>
          <a:p>
            <a:pPr algn="l" indent="0" marL="0">
              <a:buNone/>
            </a:pPr>
            <a:r>
              <a:rPr lang="en-US" sz="2800" dirty="0">
                <a:solidFill>
                  <a:srgbClr val="B8C2D9"/>
                </a:solidFill>
                <a:latin typeface="Arial" pitchFamily="34" charset="0"/>
                <a:ea typeface="Arial" pitchFamily="34" charset="-122"/>
                <a:cs typeface="Arial" pitchFamily="34" charset="-120"/>
              </a:rPr>
              <a:t>Source: NASA/TM-20210011385 (BASS-II), Table 5.1, printed p. 57</a:t>
            </a:r>
            <a:endParaRPr lang="en-US" sz="2800" dirty="0"/>
          </a:p>
        </p:txBody>
      </p:sp>
    </p:spTree>
  </p:cSld>
  <p:clrMapOvr>
    <a:masterClrMapping/>
  </p:clrMapOvr>
  <p:transition spd="med" advClick="1" advTm="12000"/>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292608"/>
            <a:ext cx="11094415" cy="1298448"/>
          </a:xfrm>
          <a:prstGeom prst="rect">
            <a:avLst/>
          </a:prstGeom>
          <a:noFill/>
          <a:ln/>
        </p:spPr>
        <p:txBody>
          <a:bodyPr wrap="square" lIns="0" tIns="0" rIns="0" bIns="0" rtlCol="0" anchor="t"/>
          <a:lstStyle/>
          <a:p>
            <a:pPr algn="l" indent="0" marL="0">
              <a:buNone/>
            </a:pPr>
            <a:r>
              <a:rPr lang="en-US" sz="4000" b="1" dirty="0">
                <a:solidFill>
                  <a:srgbClr val="F5F5F7"/>
                </a:solidFill>
                <a:latin typeface="Arial" pitchFamily="34" charset="0"/>
                <a:ea typeface="Arial" pitchFamily="34" charset="-122"/>
                <a:cs typeface="Arial" pitchFamily="34" charset="-120"/>
              </a:rPr>
              <a:t>No test felt lunar gravity.</a:t>
            </a:r>
            <a:endParaRPr lang="en-US" sz="4000" dirty="0"/>
          </a:p>
          <a:p>
            <a:pPr algn="l" indent="0" marL="0">
              <a:buNone/>
            </a:pPr>
            <a:r>
              <a:rPr lang="en-US" sz="4000" b="1" dirty="0">
                <a:solidFill>
                  <a:srgbClr val="F5F5F7"/>
                </a:solidFill>
                <a:latin typeface="Arial" pitchFamily="34" charset="0"/>
                <a:ea typeface="Arial" pitchFamily="34" charset="-122"/>
                <a:cs typeface="Arial" pitchFamily="34" charset="-120"/>
              </a:rPr>
              <a:t>The tests recorded </a:t>
            </a:r>
            <a:pPr algn="l" indent="0" marL="0">
              <a:buNone/>
            </a:pPr>
            <a:r>
              <a:rPr lang="en-US" sz="4000" b="1" dirty="0">
                <a:solidFill>
                  <a:srgbClr val="FFD60A"/>
                </a:solidFill>
                <a:latin typeface="Arial" pitchFamily="34" charset="0"/>
                <a:ea typeface="Arial" pitchFamily="34" charset="-122"/>
                <a:cs typeface="Arial" pitchFamily="34" charset="-120"/>
              </a:rPr>
              <a:t>16.8–22.2%</a:t>
            </a:r>
            <a:pPr algn="l" indent="0" marL="0">
              <a:buNone/>
            </a:pPr>
            <a:r>
              <a:rPr lang="en-US" sz="4000" b="1" dirty="0">
                <a:solidFill>
                  <a:srgbClr val="F5F5F7"/>
                </a:solidFill>
                <a:latin typeface="Arial" pitchFamily="34" charset="0"/>
                <a:ea typeface="Arial" pitchFamily="34" charset="-122"/>
                <a:cs typeface="Arial" pitchFamily="34" charset="-120"/>
              </a:rPr>
              <a:t> oxygen.</a:t>
            </a:r>
            <a:endParaRPr lang="en-US" sz="4000" dirty="0"/>
          </a:p>
        </p:txBody>
      </p:sp>
      <p:sp>
        <p:nvSpPr>
          <p:cNvPr id="3" name="Shape 1"/>
          <p:cNvSpPr/>
          <p:nvPr/>
        </p:nvSpPr>
        <p:spPr>
          <a:xfrm>
            <a:off x="746608" y="1719072"/>
            <a:ext cx="10698480" cy="3882015"/>
          </a:xfrm>
          <a:prstGeom prst="roundRect">
            <a:avLst>
              <a:gd name="adj" fmla="val 4711"/>
            </a:avLst>
          </a:prstGeom>
          <a:solidFill>
            <a:srgbClr val="000000"/>
          </a:solidFill>
          <a:ln w="19050">
            <a:solidFill>
              <a:srgbClr val="3A4A7A"/>
            </a:solidFill>
            <a:prstDash val="solid"/>
          </a:ln>
        </p:spPr>
      </p:sp>
      <p:pic>
        <p:nvPicPr>
          <p:cNvPr id="4" name="Image 0" descr="C:\FlameScope\docs\video\screens\verdict-no-data.png">    </p:cNvPr>
          <p:cNvPicPr>
            <a:picLocks noChangeAspect="1"/>
          </p:cNvPicPr>
          <p:nvPr/>
        </p:nvPicPr>
        <p:blipFill>
          <a:blip r:embed="rId1"/>
          <a:stretch>
            <a:fillRect/>
          </a:stretch>
        </p:blipFill>
        <p:spPr>
          <a:xfrm>
            <a:off x="838048" y="1810512"/>
            <a:ext cx="10515600" cy="3699135"/>
          </a:xfrm>
          <a:prstGeom prst="rect">
            <a:avLst/>
          </a:prstGeom>
        </p:spPr>
      </p:pic>
      <p:sp>
        <p:nvSpPr>
          <p:cNvPr id="5" name="Text 2"/>
          <p:cNvSpPr/>
          <p:nvPr/>
        </p:nvSpPr>
        <p:spPr>
          <a:xfrm>
            <a:off x="548640" y="6016752"/>
            <a:ext cx="11094415" cy="457200"/>
          </a:xfrm>
          <a:prstGeom prst="rect">
            <a:avLst/>
          </a:prstGeom>
          <a:noFill/>
          <a:ln/>
        </p:spPr>
        <p:txBody>
          <a:bodyPr wrap="square" lIns="0" tIns="0" rIns="0" bIns="0" rtlCol="0" anchor="b"/>
          <a:lstStyle/>
          <a:p>
            <a:pPr algn="l" indent="0" marL="0">
              <a:buNone/>
            </a:pPr>
            <a:r>
              <a:rPr lang="en-US" sz="2800" dirty="0">
                <a:solidFill>
                  <a:srgbClr val="B8C2D9"/>
                </a:solidFill>
                <a:latin typeface="Arial" pitchFamily="34" charset="0"/>
                <a:ea typeface="Arial" pitchFamily="34" charset="-122"/>
                <a:cs typeface="Arial" pitchFamily="34" charset="-120"/>
              </a:rPr>
              <a:t>Source: NASA/TM-20210011385 (BASS-II), Table 5.1, printed p. 57</a:t>
            </a:r>
            <a:endParaRPr lang="en-US" sz="2800" dirty="0"/>
          </a:p>
        </p:txBody>
      </p:sp>
    </p:spTree>
  </p:cSld>
  <p:clrMapOvr>
    <a:masterClrMapping/>
  </p:clrMapOvr>
  <p:transition spd="med" advClick="1" advTm="15000"/>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65760"/>
            <a:ext cx="11094415" cy="1005840"/>
          </a:xfrm>
          <a:prstGeom prst="rect">
            <a:avLst/>
          </a:prstGeom>
          <a:noFill/>
          <a:ln/>
        </p:spPr>
        <p:txBody>
          <a:bodyPr wrap="square" lIns="0" tIns="0" rIns="0" bIns="0" rtlCol="0" anchor="t"/>
          <a:lstStyle/>
          <a:p>
            <a:pPr algn="l" indent="0" marL="0">
              <a:buNone/>
            </a:pPr>
            <a:r>
              <a:rPr lang="en-US" sz="6600" b="1" dirty="0">
                <a:solidFill>
                  <a:srgbClr val="F5F5F7"/>
                </a:solidFill>
                <a:latin typeface="Arial" pitchFamily="34" charset="0"/>
                <a:ea typeface="Arial" pitchFamily="34" charset="-122"/>
                <a:cs typeface="Arial" pitchFamily="34" charset="-120"/>
              </a:rPr>
              <a:t>Summarize</a:t>
            </a:r>
            <a:endParaRPr lang="en-US" sz="6600" dirty="0"/>
          </a:p>
        </p:txBody>
      </p:sp>
      <p:sp>
        <p:nvSpPr>
          <p:cNvPr id="3" name="Text 1"/>
          <p:cNvSpPr/>
          <p:nvPr/>
        </p:nvSpPr>
        <p:spPr>
          <a:xfrm>
            <a:off x="548640" y="1417320"/>
            <a:ext cx="11094415" cy="594360"/>
          </a:xfrm>
          <a:prstGeom prst="rect">
            <a:avLst/>
          </a:prstGeom>
          <a:noFill/>
          <a:ln/>
        </p:spPr>
        <p:txBody>
          <a:bodyPr wrap="square" lIns="0" tIns="0" rIns="0" bIns="0" rtlCol="0" anchor="t"/>
          <a:lstStyle/>
          <a:p>
            <a:pPr algn="l" indent="0" marL="0">
              <a:buNone/>
            </a:pPr>
            <a:r>
              <a:rPr lang="en-US" sz="3600" dirty="0">
                <a:solidFill>
                  <a:srgbClr val="F5F5F7"/>
                </a:solidFill>
                <a:latin typeface="Arial" pitchFamily="34" charset="0"/>
                <a:ea typeface="Arial" pitchFamily="34" charset="-122"/>
                <a:cs typeface="Arial" pitchFamily="34" charset="-120"/>
              </a:rPr>
              <a:t>Each answer in a few key numbers</a:t>
            </a:r>
            <a:endParaRPr lang="en-US" sz="3600" dirty="0"/>
          </a:p>
        </p:txBody>
      </p:sp>
      <p:sp>
        <p:nvSpPr>
          <p:cNvPr id="4" name="Shape 2"/>
          <p:cNvSpPr/>
          <p:nvPr/>
        </p:nvSpPr>
        <p:spPr>
          <a:xfrm>
            <a:off x="563728" y="2606040"/>
            <a:ext cx="11064240" cy="2658285"/>
          </a:xfrm>
          <a:prstGeom prst="roundRect">
            <a:avLst>
              <a:gd name="adj" fmla="val 6880"/>
            </a:avLst>
          </a:prstGeom>
          <a:solidFill>
            <a:srgbClr val="000000"/>
          </a:solidFill>
          <a:ln w="19050">
            <a:solidFill>
              <a:srgbClr val="3A4A7A"/>
            </a:solidFill>
            <a:prstDash val="solid"/>
          </a:ln>
        </p:spPr>
      </p:sp>
      <p:pic>
        <p:nvPicPr>
          <p:cNvPr id="5" name="Image 0" descr="C:\FlameScope\docs\video\screens\key-numbers.png">    </p:cNvPr>
          <p:cNvPicPr>
            <a:picLocks noChangeAspect="1"/>
          </p:cNvPicPr>
          <p:nvPr/>
        </p:nvPicPr>
        <p:blipFill>
          <a:blip r:embed="rId1"/>
          <a:stretch>
            <a:fillRect/>
          </a:stretch>
        </p:blipFill>
        <p:spPr>
          <a:xfrm>
            <a:off x="655168" y="2697480"/>
            <a:ext cx="10881360" cy="2475405"/>
          </a:xfrm>
          <a:prstGeom prst="rect">
            <a:avLst/>
          </a:prstGeom>
        </p:spPr>
      </p:pic>
      <p:sp>
        <p:nvSpPr>
          <p:cNvPr id="6" name="Text 3"/>
          <p:cNvSpPr/>
          <p:nvPr/>
        </p:nvSpPr>
        <p:spPr>
          <a:xfrm>
            <a:off x="548640" y="6016752"/>
            <a:ext cx="11094415" cy="457200"/>
          </a:xfrm>
          <a:prstGeom prst="rect">
            <a:avLst/>
          </a:prstGeom>
          <a:noFill/>
          <a:ln/>
        </p:spPr>
        <p:txBody>
          <a:bodyPr wrap="square" lIns="0" tIns="0" rIns="0" bIns="0" rtlCol="0" anchor="b"/>
          <a:lstStyle/>
          <a:p>
            <a:pPr algn="l" indent="0" marL="0">
              <a:buNone/>
            </a:pPr>
            <a:r>
              <a:rPr lang="en-US" sz="2800" dirty="0">
                <a:solidFill>
                  <a:srgbClr val="B8C2D9"/>
                </a:solidFill>
                <a:latin typeface="Arial" pitchFamily="34" charset="0"/>
                <a:ea typeface="Arial" pitchFamily="34" charset="-122"/>
                <a:cs typeface="Arial" pitchFamily="34" charset="-120"/>
              </a:rPr>
              <a:t>Source: NASA/TM-20210011385 (BASS-II), Table 5.1, printed p. 57</a:t>
            </a:r>
            <a:endParaRPr lang="en-US" sz="2800" dirty="0"/>
          </a:p>
        </p:txBody>
      </p:sp>
    </p:spTree>
  </p:cSld>
  <p:clrMapOvr>
    <a:masterClrMapping/>
  </p:clrMapOvr>
  <p:transition spd="med" advClick="1" advTm="5000"/>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65760"/>
            <a:ext cx="5760720" cy="1005840"/>
          </a:xfrm>
          <a:prstGeom prst="rect">
            <a:avLst/>
          </a:prstGeom>
          <a:noFill/>
          <a:ln/>
        </p:spPr>
        <p:txBody>
          <a:bodyPr wrap="square" lIns="0" tIns="0" rIns="0" bIns="0" rtlCol="0" anchor="t"/>
          <a:lstStyle/>
          <a:p>
            <a:pPr algn="l" indent="0" marL="0">
              <a:buNone/>
            </a:pPr>
            <a:r>
              <a:rPr lang="en-US" sz="6600" b="1" dirty="0">
                <a:solidFill>
                  <a:srgbClr val="F5F5F7"/>
                </a:solidFill>
                <a:latin typeface="Arial" pitchFamily="34" charset="0"/>
                <a:ea typeface="Arial" pitchFamily="34" charset="-122"/>
                <a:cs typeface="Arial" pitchFamily="34" charset="-120"/>
              </a:rPr>
              <a:t>Rank</a:t>
            </a:r>
            <a:endParaRPr lang="en-US" sz="6600" dirty="0"/>
          </a:p>
        </p:txBody>
      </p:sp>
      <p:sp>
        <p:nvSpPr>
          <p:cNvPr id="3" name="Text 1"/>
          <p:cNvSpPr/>
          <p:nvPr/>
        </p:nvSpPr>
        <p:spPr>
          <a:xfrm>
            <a:off x="548640" y="1554480"/>
            <a:ext cx="5760720" cy="2286000"/>
          </a:xfrm>
          <a:prstGeom prst="rect">
            <a:avLst/>
          </a:prstGeom>
          <a:noFill/>
          <a:ln/>
        </p:spPr>
        <p:txBody>
          <a:bodyPr wrap="square" lIns="0" tIns="0" rIns="0" bIns="0" rtlCol="0" anchor="t"/>
          <a:lstStyle/>
          <a:p>
            <a:pPr algn="l" indent="0" marL="0">
              <a:buNone/>
            </a:pPr>
            <a:r>
              <a:rPr lang="en-US" sz="3600" dirty="0">
                <a:solidFill>
                  <a:srgbClr val="F5F5F7"/>
                </a:solidFill>
                <a:latin typeface="Arial" pitchFamily="34" charset="0"/>
                <a:ea typeface="Arial" pitchFamily="34" charset="-122"/>
                <a:cs typeface="Arial" pitchFamily="34" charset="-120"/>
              </a:rPr>
              <a:t>With faster airflow, flames</a:t>
            </a:r>
            <a:endParaRPr lang="en-US" sz="3600" dirty="0"/>
          </a:p>
          <a:p>
            <a:pPr algn="l" indent="0" marL="0">
              <a:buNone/>
            </a:pPr>
            <a:r>
              <a:rPr lang="en-US" sz="3600" dirty="0">
                <a:solidFill>
                  <a:srgbClr val="F5F5F7"/>
                </a:solidFill>
                <a:latin typeface="Arial" pitchFamily="34" charset="0"/>
                <a:ea typeface="Arial" pitchFamily="34" charset="-122"/>
                <a:cs typeface="Arial" pitchFamily="34" charset="-120"/>
              </a:rPr>
              <a:t>spread faster in </a:t>
            </a:r>
            <a:pPr algn="l" indent="0" marL="0">
              <a:buNone/>
            </a:pPr>
            <a:r>
              <a:rPr lang="en-US" sz="3600" b="1" dirty="0">
                <a:solidFill>
                  <a:srgbClr val="FF9F0A"/>
                </a:solidFill>
                <a:latin typeface="Arial" pitchFamily="34" charset="0"/>
                <a:ea typeface="Arial" pitchFamily="34" charset="-122"/>
                <a:cs typeface="Arial" pitchFamily="34" charset="-120"/>
              </a:rPr>
              <a:t>29 of 30</a:t>
            </a:r>
            <a:endParaRPr lang="en-US" sz="3600" dirty="0"/>
          </a:p>
          <a:p>
            <a:pPr algn="l" indent="0" marL="0">
              <a:buNone/>
            </a:pPr>
            <a:r>
              <a:rPr lang="en-US" sz="3600" dirty="0">
                <a:solidFill>
                  <a:srgbClr val="F5F5F7"/>
                </a:solidFill>
                <a:latin typeface="Arial" pitchFamily="34" charset="0"/>
                <a:ea typeface="Arial" pitchFamily="34" charset="-122"/>
                <a:cs typeface="Arial" pitchFamily="34" charset="-120"/>
              </a:rPr>
              <a:t>reading pairs</a:t>
            </a:r>
            <a:endParaRPr lang="en-US" sz="3600" dirty="0"/>
          </a:p>
        </p:txBody>
      </p:sp>
      <p:sp>
        <p:nvSpPr>
          <p:cNvPr id="4" name="Shape 2"/>
          <p:cNvSpPr/>
          <p:nvPr/>
        </p:nvSpPr>
        <p:spPr>
          <a:xfrm>
            <a:off x="548640" y="4069080"/>
            <a:ext cx="4526280" cy="658368"/>
          </a:xfrm>
          <a:prstGeom prst="roundRect">
            <a:avLst>
              <a:gd name="adj" fmla="val 50000"/>
            </a:avLst>
          </a:prstGeom>
          <a:solidFill>
            <a:srgbClr val="F5F5F7">
              <a:alpha val="10000"/>
            </a:srgbClr>
          </a:solidFill>
          <a:ln w="19050">
            <a:solidFill>
              <a:srgbClr val="B8C2D9"/>
            </a:solidFill>
            <a:prstDash val="solid"/>
          </a:ln>
        </p:spPr>
      </p:sp>
      <p:sp>
        <p:nvSpPr>
          <p:cNvPr id="5" name="Text 3"/>
          <p:cNvSpPr/>
          <p:nvPr/>
        </p:nvSpPr>
        <p:spPr>
          <a:xfrm>
            <a:off x="548640" y="4069080"/>
            <a:ext cx="4526280" cy="658368"/>
          </a:xfrm>
          <a:prstGeom prst="rect">
            <a:avLst/>
          </a:prstGeom>
          <a:noFill/>
          <a:ln/>
        </p:spPr>
        <p:txBody>
          <a:bodyPr wrap="square" lIns="0" tIns="0" rIns="0" bIns="0" rtlCol="0" anchor="ctr"/>
          <a:lstStyle/>
          <a:p>
            <a:pPr algn="ctr" indent="0" marL="0">
              <a:buNone/>
            </a:pPr>
            <a:r>
              <a:rPr lang="en-US" sz="2800" b="1" dirty="0">
                <a:solidFill>
                  <a:srgbClr val="F5F5F7"/>
                </a:solidFill>
                <a:latin typeface="Arial" pitchFamily="34" charset="0"/>
                <a:ea typeface="Arial" pitchFamily="34" charset="-122"/>
                <a:cs typeface="Arial" pitchFamily="34" charset="-120"/>
              </a:rPr>
              <a:t>Descriptive, not causal</a:t>
            </a:r>
            <a:endParaRPr lang="en-US" sz="2800" dirty="0"/>
          </a:p>
        </p:txBody>
      </p:sp>
      <p:sp>
        <p:nvSpPr>
          <p:cNvPr id="6" name="Shape 4"/>
          <p:cNvSpPr/>
          <p:nvPr/>
        </p:nvSpPr>
        <p:spPr>
          <a:xfrm>
            <a:off x="6842455" y="411480"/>
            <a:ext cx="4800600" cy="4723638"/>
          </a:xfrm>
          <a:prstGeom prst="roundRect">
            <a:avLst>
              <a:gd name="adj" fmla="val 3872"/>
            </a:avLst>
          </a:prstGeom>
          <a:solidFill>
            <a:srgbClr val="1C1C1E"/>
          </a:solidFill>
          <a:ln w="19050">
            <a:solidFill>
              <a:srgbClr val="3A4A7A"/>
            </a:solidFill>
            <a:prstDash val="solid"/>
          </a:ln>
        </p:spPr>
      </p:sp>
      <p:pic>
        <p:nvPicPr>
          <p:cNvPr id="7" name="Image 0" descr="C:\FlameScope\docs\video\screens\ranked-findings.png">    </p:cNvPr>
          <p:cNvPicPr>
            <a:picLocks noChangeAspect="1"/>
          </p:cNvPicPr>
          <p:nvPr/>
        </p:nvPicPr>
        <p:blipFill>
          <a:blip r:embed="rId1"/>
          <a:stretch>
            <a:fillRect/>
          </a:stretch>
        </p:blipFill>
        <p:spPr>
          <a:xfrm>
            <a:off x="6933895" y="502920"/>
            <a:ext cx="4617720" cy="4540758"/>
          </a:xfrm>
          <a:prstGeom prst="rect">
            <a:avLst/>
          </a:prstGeom>
        </p:spPr>
      </p:pic>
      <p:sp>
        <p:nvSpPr>
          <p:cNvPr id="8" name="Text 5"/>
          <p:cNvSpPr/>
          <p:nvPr/>
        </p:nvSpPr>
        <p:spPr>
          <a:xfrm>
            <a:off x="548640" y="5596128"/>
            <a:ext cx="11094415" cy="877824"/>
          </a:xfrm>
          <a:prstGeom prst="rect">
            <a:avLst/>
          </a:prstGeom>
          <a:noFill/>
          <a:ln/>
        </p:spPr>
        <p:txBody>
          <a:bodyPr wrap="square" lIns="0" tIns="0" rIns="0" bIns="0" rtlCol="0" anchor="b"/>
          <a:lstStyle/>
          <a:p>
            <a:pPr algn="l" indent="0" marL="0">
              <a:buNone/>
            </a:pPr>
            <a:r>
              <a:rPr lang="en-US" sz="2800" dirty="0">
                <a:solidFill>
                  <a:srgbClr val="B8C2D9"/>
                </a:solidFill>
                <a:latin typeface="Arial" pitchFamily="34" charset="0"/>
                <a:ea typeface="Arial" pitchFamily="34" charset="-122"/>
                <a:cs typeface="Arial" pitchFamily="34" charset="-120"/>
              </a:rPr>
              <a:t>Source: the app’s ranked finding #1, computed from</a:t>
            </a:r>
            <a:endParaRPr lang="en-US" sz="2800" dirty="0"/>
          </a:p>
          <a:p>
            <a:pPr algn="l" indent="0" marL="0">
              <a:buNone/>
            </a:pPr>
            <a:r>
              <a:rPr lang="en-US" sz="2800" dirty="0">
                <a:solidFill>
                  <a:srgbClr val="B8C2D9"/>
                </a:solidFill>
                <a:latin typeface="Arial" pitchFamily="34" charset="0"/>
                <a:ea typeface="Arial" pitchFamily="34" charset="-122"/>
                <a:cs typeface="Arial" pitchFamily="34" charset="-120"/>
              </a:rPr>
              <a:t>NASA/TM-20210011385, Table 5.1. The pairs reuse readings.</a:t>
            </a:r>
            <a:endParaRPr lang="en-US" sz="2800" dirty="0"/>
          </a:p>
        </p:txBody>
      </p:sp>
    </p:spTree>
  </p:cSld>
  <p:clrMapOvr>
    <a:masterClrMapping/>
  </p:clrMapOvr>
  <p:transition spd="med" advClick="1" advTm="8000"/>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65760"/>
            <a:ext cx="5760720" cy="1005840"/>
          </a:xfrm>
          <a:prstGeom prst="rect">
            <a:avLst/>
          </a:prstGeom>
          <a:noFill/>
          <a:ln/>
        </p:spPr>
        <p:txBody>
          <a:bodyPr wrap="square" lIns="0" tIns="0" rIns="0" bIns="0" rtlCol="0" anchor="t"/>
          <a:lstStyle/>
          <a:p>
            <a:pPr algn="l" indent="0" marL="0">
              <a:buNone/>
            </a:pPr>
            <a:r>
              <a:rPr lang="en-US" sz="6600" b="1" dirty="0">
                <a:solidFill>
                  <a:srgbClr val="F5F5F7"/>
                </a:solidFill>
                <a:latin typeface="Arial" pitchFamily="34" charset="0"/>
                <a:ea typeface="Arial" pitchFamily="34" charset="-122"/>
                <a:cs typeface="Arial" pitchFamily="34" charset="-120"/>
              </a:rPr>
              <a:t>Interpret</a:t>
            </a:r>
            <a:endParaRPr lang="en-US" sz="6600" dirty="0"/>
          </a:p>
        </p:txBody>
      </p:sp>
      <p:sp>
        <p:nvSpPr>
          <p:cNvPr id="3" name="Text 1"/>
          <p:cNvSpPr/>
          <p:nvPr/>
        </p:nvSpPr>
        <p:spPr>
          <a:xfrm>
            <a:off x="548640" y="1554480"/>
            <a:ext cx="5760720" cy="2286000"/>
          </a:xfrm>
          <a:prstGeom prst="rect">
            <a:avLst/>
          </a:prstGeom>
          <a:noFill/>
          <a:ln/>
        </p:spPr>
        <p:txBody>
          <a:bodyPr wrap="square" lIns="0" tIns="0" rIns="0" bIns="0" rtlCol="0" anchor="t"/>
          <a:lstStyle/>
          <a:p>
            <a:pPr algn="l" indent="0" marL="0">
              <a:buNone/>
            </a:pPr>
            <a:r>
              <a:rPr lang="en-US" sz="3600" dirty="0">
                <a:solidFill>
                  <a:srgbClr val="F5F5F7"/>
                </a:solidFill>
                <a:latin typeface="Arial" pitchFamily="34" charset="0"/>
                <a:ea typeface="Arial" pitchFamily="34" charset="-122"/>
                <a:cs typeface="Arial" pitchFamily="34" charset="-120"/>
              </a:rPr>
              <a:t>NASA’s </a:t>
            </a:r>
            <a:pPr algn="l" indent="0" marL="0">
              <a:buNone/>
            </a:pPr>
            <a:r>
              <a:rPr lang="en-US" sz="3600" b="1" dirty="0">
                <a:solidFill>
                  <a:srgbClr val="FF9F0A"/>
                </a:solidFill>
                <a:latin typeface="Arial" pitchFamily="34" charset="0"/>
                <a:ea typeface="Arial" pitchFamily="34" charset="-122"/>
                <a:cs typeface="Arial" pitchFamily="34" charset="-120"/>
              </a:rPr>
              <a:t>8</a:t>
            </a:r>
            <a:pPr algn="l" indent="0" marL="0">
              <a:buNone/>
            </a:pPr>
            <a:r>
              <a:rPr lang="en-US" sz="3600" dirty="0">
                <a:solidFill>
                  <a:srgbClr val="F5F5F7"/>
                </a:solidFill>
                <a:latin typeface="Arial" pitchFamily="34" charset="0"/>
                <a:ea typeface="Arial" pitchFamily="34" charset="-122"/>
                <a:cs typeface="Arial" pitchFamily="34" charset="-120"/>
              </a:rPr>
              <a:t> fire-response</a:t>
            </a:r>
            <a:endParaRPr lang="en-US" sz="3600" dirty="0"/>
          </a:p>
          <a:p>
            <a:pPr algn="l" indent="0" marL="0">
              <a:buNone/>
            </a:pPr>
            <a:r>
              <a:rPr lang="en-US" sz="3600" dirty="0">
                <a:solidFill>
                  <a:srgbClr val="F5F5F7"/>
                </a:solidFill>
                <a:latin typeface="Arial" pitchFamily="34" charset="0"/>
                <a:ea typeface="Arial" pitchFamily="34" charset="-122"/>
                <a:cs typeface="Arial" pitchFamily="34" charset="-120"/>
              </a:rPr>
              <a:t>steps for the Station,</a:t>
            </a:r>
            <a:endParaRPr lang="en-US" sz="3600" dirty="0"/>
          </a:p>
          <a:p>
            <a:pPr algn="l" indent="0" marL="0">
              <a:buNone/>
            </a:pPr>
            <a:r>
              <a:rPr lang="en-US" sz="3600" dirty="0">
                <a:solidFill>
                  <a:srgbClr val="F5F5F7"/>
                </a:solidFill>
                <a:latin typeface="Arial" pitchFamily="34" charset="0"/>
                <a:ea typeface="Arial" pitchFamily="34" charset="-122"/>
                <a:cs typeface="Arial" pitchFamily="34" charset="-120"/>
              </a:rPr>
              <a:t>next to the test evidence</a:t>
            </a:r>
            <a:endParaRPr lang="en-US" sz="3600" dirty="0"/>
          </a:p>
        </p:txBody>
      </p:sp>
      <p:sp>
        <p:nvSpPr>
          <p:cNvPr id="4" name="Shape 2"/>
          <p:cNvSpPr/>
          <p:nvPr/>
        </p:nvSpPr>
        <p:spPr>
          <a:xfrm>
            <a:off x="6842455" y="411480"/>
            <a:ext cx="4800600" cy="4723638"/>
          </a:xfrm>
          <a:prstGeom prst="roundRect">
            <a:avLst>
              <a:gd name="adj" fmla="val 3872"/>
            </a:avLst>
          </a:prstGeom>
          <a:solidFill>
            <a:srgbClr val="1C1C1E"/>
          </a:solidFill>
          <a:ln w="19050">
            <a:solidFill>
              <a:srgbClr val="3A4A7A"/>
            </a:solidFill>
            <a:prstDash val="solid"/>
          </a:ln>
        </p:spPr>
      </p:sp>
      <p:pic>
        <p:nvPicPr>
          <p:cNvPr id="5" name="Image 0" descr="C:\FlameScope\docs\video\screens\fire-response.png">    </p:cNvPr>
          <p:cNvPicPr>
            <a:picLocks noChangeAspect="1"/>
          </p:cNvPicPr>
          <p:nvPr/>
        </p:nvPicPr>
        <p:blipFill>
          <a:blip r:embed="rId1"/>
          <a:stretch>
            <a:fillRect/>
          </a:stretch>
        </p:blipFill>
        <p:spPr>
          <a:xfrm>
            <a:off x="6933895" y="502920"/>
            <a:ext cx="4617720" cy="4540758"/>
          </a:xfrm>
          <a:prstGeom prst="rect">
            <a:avLst/>
          </a:prstGeom>
        </p:spPr>
      </p:pic>
      <p:sp>
        <p:nvSpPr>
          <p:cNvPr id="6" name="Text 3"/>
          <p:cNvSpPr/>
          <p:nvPr/>
        </p:nvSpPr>
        <p:spPr>
          <a:xfrm>
            <a:off x="548640" y="6016752"/>
            <a:ext cx="11094415" cy="457200"/>
          </a:xfrm>
          <a:prstGeom prst="rect">
            <a:avLst/>
          </a:prstGeom>
          <a:noFill/>
          <a:ln/>
        </p:spPr>
        <p:txBody>
          <a:bodyPr wrap="square" lIns="0" tIns="0" rIns="0" bIns="0" rtlCol="0" anchor="b"/>
          <a:lstStyle/>
          <a:p>
            <a:pPr algn="l" indent="0" marL="0">
              <a:buNone/>
            </a:pPr>
            <a:r>
              <a:rPr lang="en-US" sz="2800" dirty="0">
                <a:solidFill>
                  <a:srgbClr val="B8C2D9"/>
                </a:solidFill>
                <a:latin typeface="Arial" pitchFamily="34" charset="0"/>
                <a:ea typeface="Arial" pitchFamily="34" charset="-122"/>
                <a:cs typeface="Arial" pitchFamily="34" charset="-120"/>
              </a:rPr>
              <a:t>Source: NASA OCHMO-TB-008 Rev A (29 Nov 2023)</a:t>
            </a:r>
            <a:endParaRPr lang="en-US" sz="2800" dirty="0"/>
          </a:p>
        </p:txBody>
      </p:sp>
    </p:spTree>
  </p:cSld>
  <p:clrMapOvr>
    <a:masterClrMapping/>
  </p:clrMapOvr>
  <p:transition spd="med" advClick="1" advTm="7000"/>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548640"/>
            <a:ext cx="2286000" cy="603504"/>
          </a:xfrm>
          <a:prstGeom prst="roundRect">
            <a:avLst>
              <a:gd name="adj" fmla="val 50000"/>
            </a:avLst>
          </a:prstGeom>
          <a:solidFill>
            <a:srgbClr val="7CB8FF">
              <a:alpha val="14000"/>
            </a:srgbClr>
          </a:solidFill>
          <a:ln w="25400">
            <a:solidFill>
              <a:srgbClr val="7CB8FF"/>
            </a:solidFill>
            <a:prstDash val="solid"/>
          </a:ln>
        </p:spPr>
      </p:sp>
      <p:sp>
        <p:nvSpPr>
          <p:cNvPr id="3" name="Text 1"/>
          <p:cNvSpPr/>
          <p:nvPr/>
        </p:nvSpPr>
        <p:spPr>
          <a:xfrm>
            <a:off x="548640" y="548640"/>
            <a:ext cx="2286000" cy="603504"/>
          </a:xfrm>
          <a:prstGeom prst="rect">
            <a:avLst/>
          </a:prstGeom>
          <a:noFill/>
          <a:ln/>
        </p:spPr>
        <p:txBody>
          <a:bodyPr wrap="square" lIns="0" tIns="0" rIns="0" bIns="0" rtlCol="0" anchor="ctr"/>
          <a:lstStyle/>
          <a:p>
            <a:pPr algn="ctr" indent="0" marL="0">
              <a:buNone/>
            </a:pPr>
            <a:r>
              <a:rPr lang="en-US" sz="2800" b="1" dirty="0">
                <a:solidFill>
                  <a:srgbClr val="7CB8FF"/>
                </a:solidFill>
                <a:latin typeface="Arial" pitchFamily="34" charset="0"/>
                <a:ea typeface="Arial" pitchFamily="34" charset="-122"/>
                <a:cs typeface="Arial" pitchFamily="34" charset="-120"/>
              </a:rPr>
              <a:t>PLANNED</a:t>
            </a:r>
            <a:endParaRPr lang="en-US" sz="2800" dirty="0"/>
          </a:p>
        </p:txBody>
      </p:sp>
      <p:sp>
        <p:nvSpPr>
          <p:cNvPr id="4" name="Text 2"/>
          <p:cNvSpPr/>
          <p:nvPr/>
        </p:nvSpPr>
        <p:spPr>
          <a:xfrm>
            <a:off x="548640" y="1371600"/>
            <a:ext cx="11094415" cy="1463040"/>
          </a:xfrm>
          <a:prstGeom prst="rect">
            <a:avLst/>
          </a:prstGeom>
          <a:noFill/>
          <a:ln/>
        </p:spPr>
        <p:txBody>
          <a:bodyPr wrap="square" lIns="0" tIns="0" rIns="0" bIns="0" rtlCol="0" anchor="ctr"/>
          <a:lstStyle/>
          <a:p>
            <a:pPr algn="l" indent="0" marL="0">
              <a:buNone/>
            </a:pPr>
            <a:r>
              <a:rPr lang="en-US" sz="9600" b="1" dirty="0">
                <a:solidFill>
                  <a:srgbClr val="F5F5F7"/>
                </a:solidFill>
                <a:latin typeface="Arial" pitchFamily="34" charset="0"/>
                <a:ea typeface="Arial" pitchFamily="34" charset="-122"/>
                <a:cs typeface="Arial" pitchFamily="34" charset="-120"/>
              </a:rPr>
              <a:t>ChatBot</a:t>
            </a:r>
            <a:endParaRPr lang="en-US" sz="9600" dirty="0"/>
          </a:p>
        </p:txBody>
      </p:sp>
      <p:sp>
        <p:nvSpPr>
          <p:cNvPr id="5" name="Text 3"/>
          <p:cNvSpPr/>
          <p:nvPr/>
        </p:nvSpPr>
        <p:spPr>
          <a:xfrm>
            <a:off x="548640" y="3154680"/>
            <a:ext cx="8503920" cy="1325880"/>
          </a:xfrm>
          <a:prstGeom prst="rect">
            <a:avLst/>
          </a:prstGeom>
          <a:noFill/>
          <a:ln/>
        </p:spPr>
        <p:txBody>
          <a:bodyPr wrap="square" lIns="0" tIns="0" rIns="0" bIns="0" rtlCol="0" anchor="t"/>
          <a:lstStyle/>
          <a:p>
            <a:pPr algn="l" indent="0" marL="0">
              <a:buNone/>
            </a:pPr>
            <a:r>
              <a:rPr lang="en-US" sz="4000" dirty="0">
                <a:solidFill>
                  <a:srgbClr val="F5F5F7"/>
                </a:solidFill>
                <a:latin typeface="Arial" pitchFamily="34" charset="0"/>
                <a:ea typeface="Arial" pitchFamily="34" charset="-122"/>
                <a:cs typeface="Arial" pitchFamily="34" charset="-120"/>
              </a:rPr>
              <a:t>Ask in plain English. Every answer</a:t>
            </a:r>
            <a:endParaRPr lang="en-US" sz="4000" dirty="0"/>
          </a:p>
          <a:p>
            <a:pPr algn="l" indent="0" marL="0">
              <a:buNone/>
            </a:pPr>
            <a:r>
              <a:rPr lang="en-US" sz="4000" dirty="0">
                <a:solidFill>
                  <a:srgbClr val="F5F5F7"/>
                </a:solidFill>
                <a:latin typeface="Arial" pitchFamily="34" charset="0"/>
                <a:ea typeface="Arial" pitchFamily="34" charset="-122"/>
                <a:cs typeface="Arial" pitchFamily="34" charset="-120"/>
              </a:rPr>
              <a:t>quotes the NASA row it used.</a:t>
            </a:r>
            <a:endParaRPr lang="en-US" sz="4000" dirty="0"/>
          </a:p>
        </p:txBody>
      </p:sp>
      <p:sp>
        <p:nvSpPr>
          <p:cNvPr id="6" name="Shape 4"/>
          <p:cNvSpPr/>
          <p:nvPr/>
        </p:nvSpPr>
        <p:spPr>
          <a:xfrm>
            <a:off x="9464040" y="3246120"/>
            <a:ext cx="2103120" cy="1554480"/>
          </a:xfrm>
          <a:prstGeom prst="wedgeRoundRectCallout">
            <a:avLst/>
          </a:prstGeom>
          <a:solidFill>
            <a:srgbClr val="7CB8FF">
              <a:alpha val="18000"/>
            </a:srgbClr>
          </a:solidFill>
          <a:ln w="31750">
            <a:solidFill>
              <a:srgbClr val="7CB8FF"/>
            </a:solidFill>
            <a:prstDash val="solid"/>
          </a:ln>
        </p:spPr>
      </p:sp>
      <p:sp>
        <p:nvSpPr>
          <p:cNvPr id="7" name="Shape 5"/>
          <p:cNvSpPr/>
          <p:nvPr/>
        </p:nvSpPr>
        <p:spPr>
          <a:xfrm>
            <a:off x="9784080" y="3657600"/>
            <a:ext cx="1463040" cy="146304"/>
          </a:xfrm>
          <a:prstGeom prst="roundRect">
            <a:avLst>
              <a:gd name="adj" fmla="val 50000"/>
            </a:avLst>
          </a:prstGeom>
          <a:solidFill>
            <a:srgbClr val="7CB8FF"/>
          </a:solidFill>
          <a:ln w="12700">
            <a:solidFill>
              <a:srgbClr val="7CB8FF"/>
            </a:solidFill>
            <a:prstDash val="solid"/>
          </a:ln>
        </p:spPr>
      </p:sp>
      <p:sp>
        <p:nvSpPr>
          <p:cNvPr id="8" name="Shape 6"/>
          <p:cNvSpPr/>
          <p:nvPr/>
        </p:nvSpPr>
        <p:spPr>
          <a:xfrm>
            <a:off x="9784080" y="4023360"/>
            <a:ext cx="1005840" cy="146304"/>
          </a:xfrm>
          <a:prstGeom prst="roundRect">
            <a:avLst>
              <a:gd name="adj" fmla="val 50000"/>
            </a:avLst>
          </a:prstGeom>
          <a:solidFill>
            <a:srgbClr val="7CB8FF"/>
          </a:solidFill>
          <a:ln w="12700">
            <a:solidFill>
              <a:srgbClr val="7CB8FF"/>
            </a:solidFill>
            <a:prstDash val="solid"/>
          </a:ln>
        </p:spPr>
      </p:sp>
      <p:sp>
        <p:nvSpPr>
          <p:cNvPr id="9" name="Text 7"/>
          <p:cNvSpPr/>
          <p:nvPr/>
        </p:nvSpPr>
        <p:spPr>
          <a:xfrm>
            <a:off x="548640" y="6016752"/>
            <a:ext cx="11094415" cy="457200"/>
          </a:xfrm>
          <a:prstGeom prst="rect">
            <a:avLst/>
          </a:prstGeom>
          <a:noFill/>
          <a:ln/>
        </p:spPr>
        <p:txBody>
          <a:bodyPr wrap="square" lIns="0" tIns="0" rIns="0" bIns="0" rtlCol="0" anchor="b"/>
          <a:lstStyle/>
          <a:p>
            <a:pPr algn="l" indent="0" marL="0">
              <a:buNone/>
            </a:pPr>
            <a:r>
              <a:rPr lang="en-US" sz="2800" dirty="0">
                <a:solidFill>
                  <a:srgbClr val="B8C2D9"/>
                </a:solidFill>
                <a:latin typeface="Arial" pitchFamily="34" charset="0"/>
                <a:ea typeface="Arial" pitchFamily="34" charset="-122"/>
                <a:cs typeface="Arial" pitchFamily="34" charset="-120"/>
              </a:rPr>
              <a:t>Planned, not finished</a:t>
            </a:r>
            <a:endParaRPr lang="en-US" sz="2800" dirty="0"/>
          </a:p>
        </p:txBody>
      </p:sp>
    </p:spTree>
  </p:cSld>
  <p:clrMapOvr>
    <a:masterClrMapping/>
  </p:clrMapOvr>
  <p:transition spd="med" advClick="1" advTm="9000"/>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548640"/>
            <a:ext cx="2286000" cy="603504"/>
          </a:xfrm>
          <a:prstGeom prst="roundRect">
            <a:avLst>
              <a:gd name="adj" fmla="val 50000"/>
            </a:avLst>
          </a:prstGeom>
          <a:solidFill>
            <a:srgbClr val="7CB8FF">
              <a:alpha val="14000"/>
            </a:srgbClr>
          </a:solidFill>
          <a:ln w="25400">
            <a:solidFill>
              <a:srgbClr val="7CB8FF"/>
            </a:solidFill>
            <a:prstDash val="solid"/>
          </a:ln>
        </p:spPr>
      </p:sp>
      <p:sp>
        <p:nvSpPr>
          <p:cNvPr id="3" name="Text 1"/>
          <p:cNvSpPr/>
          <p:nvPr/>
        </p:nvSpPr>
        <p:spPr>
          <a:xfrm>
            <a:off x="548640" y="548640"/>
            <a:ext cx="2286000" cy="603504"/>
          </a:xfrm>
          <a:prstGeom prst="rect">
            <a:avLst/>
          </a:prstGeom>
          <a:noFill/>
          <a:ln/>
        </p:spPr>
        <p:txBody>
          <a:bodyPr wrap="square" lIns="0" tIns="0" rIns="0" bIns="0" rtlCol="0" anchor="ctr"/>
          <a:lstStyle/>
          <a:p>
            <a:pPr algn="ctr" indent="0" marL="0">
              <a:buNone/>
            </a:pPr>
            <a:r>
              <a:rPr lang="en-US" sz="2800" b="1" dirty="0">
                <a:solidFill>
                  <a:srgbClr val="7CB8FF"/>
                </a:solidFill>
                <a:latin typeface="Arial" pitchFamily="34" charset="0"/>
                <a:ea typeface="Arial" pitchFamily="34" charset="-122"/>
                <a:cs typeface="Arial" pitchFamily="34" charset="-120"/>
              </a:rPr>
              <a:t>PLANNED</a:t>
            </a:r>
            <a:endParaRPr lang="en-US" sz="2800" dirty="0"/>
          </a:p>
        </p:txBody>
      </p:sp>
      <p:sp>
        <p:nvSpPr>
          <p:cNvPr id="4" name="Text 2"/>
          <p:cNvSpPr/>
          <p:nvPr/>
        </p:nvSpPr>
        <p:spPr>
          <a:xfrm>
            <a:off x="548640" y="1371600"/>
            <a:ext cx="11094415" cy="1463040"/>
          </a:xfrm>
          <a:prstGeom prst="rect">
            <a:avLst/>
          </a:prstGeom>
          <a:noFill/>
          <a:ln/>
        </p:spPr>
        <p:txBody>
          <a:bodyPr wrap="square" lIns="0" tIns="0" rIns="0" bIns="0" rtlCol="0" anchor="ctr"/>
          <a:lstStyle/>
          <a:p>
            <a:pPr algn="l" indent="0" marL="0">
              <a:buNone/>
            </a:pPr>
            <a:r>
              <a:rPr lang="en-US" sz="9600" b="1" dirty="0">
                <a:solidFill>
                  <a:srgbClr val="F5F5F7"/>
                </a:solidFill>
                <a:latin typeface="Arial" pitchFamily="34" charset="0"/>
                <a:ea typeface="Arial" pitchFamily="34" charset="-122"/>
                <a:cs typeface="Arial" pitchFamily="34" charset="-120"/>
              </a:rPr>
              <a:t>Analysis tool</a:t>
            </a:r>
            <a:endParaRPr lang="en-US" sz="9600" dirty="0"/>
          </a:p>
        </p:txBody>
      </p:sp>
      <p:sp>
        <p:nvSpPr>
          <p:cNvPr id="5" name="Text 3"/>
          <p:cNvSpPr/>
          <p:nvPr/>
        </p:nvSpPr>
        <p:spPr>
          <a:xfrm>
            <a:off x="548640" y="3154680"/>
            <a:ext cx="8503920" cy="1325880"/>
          </a:xfrm>
          <a:prstGeom prst="rect">
            <a:avLst/>
          </a:prstGeom>
          <a:noFill/>
          <a:ln/>
        </p:spPr>
        <p:txBody>
          <a:bodyPr wrap="square" lIns="0" tIns="0" rIns="0" bIns="0" rtlCol="0" anchor="t"/>
          <a:lstStyle/>
          <a:p>
            <a:pPr algn="l" indent="0" marL="0">
              <a:buNone/>
            </a:pPr>
            <a:r>
              <a:rPr lang="en-US" sz="4000" dirty="0">
                <a:solidFill>
                  <a:srgbClr val="F5F5F7"/>
                </a:solidFill>
                <a:latin typeface="Arial" pitchFamily="34" charset="0"/>
                <a:ea typeface="Arial" pitchFamily="34" charset="-122"/>
                <a:cs typeface="Arial" pitchFamily="34" charset="-120"/>
              </a:rPr>
              <a:t>Pick one variable, like airflow, and</a:t>
            </a:r>
            <a:endParaRPr lang="en-US" sz="4000" dirty="0"/>
          </a:p>
          <a:p>
            <a:pPr algn="l" indent="0" marL="0">
              <a:buNone/>
            </a:pPr>
            <a:r>
              <a:rPr lang="en-US" sz="4000" dirty="0">
                <a:solidFill>
                  <a:srgbClr val="F5F5F7"/>
                </a:solidFill>
                <a:latin typeface="Arial" pitchFamily="34" charset="0"/>
                <a:ea typeface="Arial" pitchFamily="34" charset="-122"/>
                <a:cs typeface="Arial" pitchFamily="34" charset="-120"/>
              </a:rPr>
              <a:t>chart it across the tests.</a:t>
            </a:r>
            <a:endParaRPr lang="en-US" sz="4000" dirty="0"/>
          </a:p>
        </p:txBody>
      </p:sp>
      <p:sp>
        <p:nvSpPr>
          <p:cNvPr id="6" name="Shape 4"/>
          <p:cNvSpPr/>
          <p:nvPr/>
        </p:nvSpPr>
        <p:spPr>
          <a:xfrm>
            <a:off x="9464040" y="4251960"/>
            <a:ext cx="384048" cy="822960"/>
          </a:xfrm>
          <a:prstGeom prst="roundRect">
            <a:avLst>
              <a:gd name="adj" fmla="val 14286"/>
            </a:avLst>
          </a:prstGeom>
          <a:solidFill>
            <a:srgbClr val="7CB8FF">
              <a:alpha val="40000"/>
            </a:srgbClr>
          </a:solidFill>
          <a:ln w="19050">
            <a:solidFill>
              <a:srgbClr val="7CB8FF"/>
            </a:solidFill>
            <a:prstDash val="solid"/>
          </a:ln>
        </p:spPr>
      </p:sp>
      <p:sp>
        <p:nvSpPr>
          <p:cNvPr id="7" name="Shape 5"/>
          <p:cNvSpPr/>
          <p:nvPr/>
        </p:nvSpPr>
        <p:spPr>
          <a:xfrm>
            <a:off x="10012680" y="3703320"/>
            <a:ext cx="384048" cy="1371600"/>
          </a:xfrm>
          <a:prstGeom prst="roundRect">
            <a:avLst>
              <a:gd name="adj" fmla="val 14286"/>
            </a:avLst>
          </a:prstGeom>
          <a:solidFill>
            <a:srgbClr val="7CB8FF">
              <a:alpha val="40000"/>
            </a:srgbClr>
          </a:solidFill>
          <a:ln w="19050">
            <a:solidFill>
              <a:srgbClr val="7CB8FF"/>
            </a:solidFill>
            <a:prstDash val="solid"/>
          </a:ln>
        </p:spPr>
      </p:sp>
      <p:sp>
        <p:nvSpPr>
          <p:cNvPr id="8" name="Shape 6"/>
          <p:cNvSpPr/>
          <p:nvPr/>
        </p:nvSpPr>
        <p:spPr>
          <a:xfrm>
            <a:off x="10561320" y="4023360"/>
            <a:ext cx="384048" cy="1051560"/>
          </a:xfrm>
          <a:prstGeom prst="roundRect">
            <a:avLst>
              <a:gd name="adj" fmla="val 14286"/>
            </a:avLst>
          </a:prstGeom>
          <a:solidFill>
            <a:srgbClr val="7CB8FF">
              <a:alpha val="40000"/>
            </a:srgbClr>
          </a:solidFill>
          <a:ln w="19050">
            <a:solidFill>
              <a:srgbClr val="7CB8FF"/>
            </a:solidFill>
            <a:prstDash val="solid"/>
          </a:ln>
        </p:spPr>
      </p:sp>
      <p:sp>
        <p:nvSpPr>
          <p:cNvPr id="9" name="Shape 7"/>
          <p:cNvSpPr/>
          <p:nvPr/>
        </p:nvSpPr>
        <p:spPr>
          <a:xfrm>
            <a:off x="11109960" y="3337560"/>
            <a:ext cx="384048" cy="1737360"/>
          </a:xfrm>
          <a:prstGeom prst="roundRect">
            <a:avLst>
              <a:gd name="adj" fmla="val 14286"/>
            </a:avLst>
          </a:prstGeom>
          <a:solidFill>
            <a:srgbClr val="7CB8FF">
              <a:alpha val="80000"/>
            </a:srgbClr>
          </a:solidFill>
          <a:ln w="19050">
            <a:solidFill>
              <a:srgbClr val="7CB8FF"/>
            </a:solidFill>
            <a:prstDash val="solid"/>
          </a:ln>
        </p:spPr>
      </p:sp>
      <p:sp>
        <p:nvSpPr>
          <p:cNvPr id="10" name="Text 8"/>
          <p:cNvSpPr/>
          <p:nvPr/>
        </p:nvSpPr>
        <p:spPr>
          <a:xfrm>
            <a:off x="548640" y="6016752"/>
            <a:ext cx="11094415" cy="457200"/>
          </a:xfrm>
          <a:prstGeom prst="rect">
            <a:avLst/>
          </a:prstGeom>
          <a:noFill/>
          <a:ln/>
        </p:spPr>
        <p:txBody>
          <a:bodyPr wrap="square" lIns="0" tIns="0" rIns="0" bIns="0" rtlCol="0" anchor="b"/>
          <a:lstStyle/>
          <a:p>
            <a:pPr algn="l" indent="0" marL="0">
              <a:buNone/>
            </a:pPr>
            <a:r>
              <a:rPr lang="en-US" sz="2800" dirty="0">
                <a:solidFill>
                  <a:srgbClr val="B8C2D9"/>
                </a:solidFill>
                <a:latin typeface="Arial" pitchFamily="34" charset="0"/>
                <a:ea typeface="Arial" pitchFamily="34" charset="-122"/>
                <a:cs typeface="Arial" pitchFamily="34" charset="-120"/>
              </a:rPr>
              <a:t>Planned, not finished</a:t>
            </a:r>
            <a:endParaRPr lang="en-US" sz="2800" dirty="0"/>
          </a:p>
        </p:txBody>
      </p:sp>
    </p:spTree>
  </p:cSld>
  <p:clrMapOvr>
    <a:masterClrMapping/>
  </p:clrMapOvr>
  <p:transition spd="med" advClick="1" advTm="6000"/>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548640"/>
            <a:ext cx="2286000" cy="603504"/>
          </a:xfrm>
          <a:prstGeom prst="roundRect">
            <a:avLst>
              <a:gd name="adj" fmla="val 50000"/>
            </a:avLst>
          </a:prstGeom>
          <a:solidFill>
            <a:srgbClr val="7CB8FF">
              <a:alpha val="14000"/>
            </a:srgbClr>
          </a:solidFill>
          <a:ln w="25400">
            <a:solidFill>
              <a:srgbClr val="7CB8FF"/>
            </a:solidFill>
            <a:prstDash val="solid"/>
          </a:ln>
        </p:spPr>
      </p:sp>
      <p:sp>
        <p:nvSpPr>
          <p:cNvPr id="3" name="Text 1"/>
          <p:cNvSpPr/>
          <p:nvPr/>
        </p:nvSpPr>
        <p:spPr>
          <a:xfrm>
            <a:off x="548640" y="548640"/>
            <a:ext cx="2286000" cy="603504"/>
          </a:xfrm>
          <a:prstGeom prst="rect">
            <a:avLst/>
          </a:prstGeom>
          <a:noFill/>
          <a:ln/>
        </p:spPr>
        <p:txBody>
          <a:bodyPr wrap="square" lIns="0" tIns="0" rIns="0" bIns="0" rtlCol="0" anchor="ctr"/>
          <a:lstStyle/>
          <a:p>
            <a:pPr algn="ctr" indent="0" marL="0">
              <a:buNone/>
            </a:pPr>
            <a:r>
              <a:rPr lang="en-US" sz="2800" b="1" dirty="0">
                <a:solidFill>
                  <a:srgbClr val="7CB8FF"/>
                </a:solidFill>
                <a:latin typeface="Arial" pitchFamily="34" charset="0"/>
                <a:ea typeface="Arial" pitchFamily="34" charset="-122"/>
                <a:cs typeface="Arial" pitchFamily="34" charset="-120"/>
              </a:rPr>
              <a:t>PLANNED</a:t>
            </a:r>
            <a:endParaRPr lang="en-US" sz="2800" dirty="0"/>
          </a:p>
        </p:txBody>
      </p:sp>
      <p:sp>
        <p:nvSpPr>
          <p:cNvPr id="4" name="Text 2"/>
          <p:cNvSpPr/>
          <p:nvPr/>
        </p:nvSpPr>
        <p:spPr>
          <a:xfrm>
            <a:off x="548640" y="1371600"/>
            <a:ext cx="11094415" cy="1463040"/>
          </a:xfrm>
          <a:prstGeom prst="rect">
            <a:avLst/>
          </a:prstGeom>
          <a:noFill/>
          <a:ln/>
        </p:spPr>
        <p:txBody>
          <a:bodyPr wrap="square" lIns="0" tIns="0" rIns="0" bIns="0" rtlCol="0" anchor="ctr"/>
          <a:lstStyle/>
          <a:p>
            <a:pPr algn="l" indent="0" marL="0">
              <a:buNone/>
            </a:pPr>
            <a:r>
              <a:rPr lang="en-US" sz="9600" b="1" dirty="0">
                <a:solidFill>
                  <a:srgbClr val="F5F5F7"/>
                </a:solidFill>
                <a:latin typeface="Arial" pitchFamily="34" charset="0"/>
                <a:ea typeface="Arial" pitchFamily="34" charset="-122"/>
                <a:cs typeface="Arial" pitchFamily="34" charset="-120"/>
              </a:rPr>
              <a:t>Comparison tool</a:t>
            </a:r>
            <a:endParaRPr lang="en-US" sz="9600" dirty="0"/>
          </a:p>
        </p:txBody>
      </p:sp>
      <p:sp>
        <p:nvSpPr>
          <p:cNvPr id="5" name="Text 3"/>
          <p:cNvSpPr/>
          <p:nvPr/>
        </p:nvSpPr>
        <p:spPr>
          <a:xfrm>
            <a:off x="548640" y="3154680"/>
            <a:ext cx="8503920" cy="1325880"/>
          </a:xfrm>
          <a:prstGeom prst="rect">
            <a:avLst/>
          </a:prstGeom>
          <a:noFill/>
          <a:ln/>
        </p:spPr>
        <p:txBody>
          <a:bodyPr wrap="square" lIns="0" tIns="0" rIns="0" bIns="0" rtlCol="0" anchor="t"/>
          <a:lstStyle/>
          <a:p>
            <a:pPr algn="l" indent="0" marL="0">
              <a:buNone/>
            </a:pPr>
            <a:r>
              <a:rPr lang="en-US" sz="4000" dirty="0">
                <a:solidFill>
                  <a:srgbClr val="F5F5F7"/>
                </a:solidFill>
                <a:latin typeface="Arial" pitchFamily="34" charset="0"/>
                <a:ea typeface="Arial" pitchFamily="34" charset="-122"/>
                <a:cs typeface="Arial" pitchFamily="34" charset="-120"/>
              </a:rPr>
              <a:t>Set two experiments side by side</a:t>
            </a:r>
            <a:endParaRPr lang="en-US" sz="4000" dirty="0"/>
          </a:p>
          <a:p>
            <a:pPr algn="l" indent="0" marL="0">
              <a:buNone/>
            </a:pPr>
            <a:r>
              <a:rPr lang="en-US" sz="4000" dirty="0">
                <a:solidFill>
                  <a:srgbClr val="F5F5F7"/>
                </a:solidFill>
                <a:latin typeface="Arial" pitchFamily="34" charset="0"/>
                <a:ea typeface="Arial" pitchFamily="34" charset="-122"/>
                <a:cs typeface="Arial" pitchFamily="34" charset="-120"/>
              </a:rPr>
              <a:t>and see what changed.</a:t>
            </a:r>
            <a:endParaRPr lang="en-US" sz="4000" dirty="0"/>
          </a:p>
        </p:txBody>
      </p:sp>
      <p:sp>
        <p:nvSpPr>
          <p:cNvPr id="6" name="Shape 4"/>
          <p:cNvSpPr/>
          <p:nvPr/>
        </p:nvSpPr>
        <p:spPr>
          <a:xfrm>
            <a:off x="9464040" y="3337560"/>
            <a:ext cx="960120" cy="1645920"/>
          </a:xfrm>
          <a:prstGeom prst="roundRect">
            <a:avLst>
              <a:gd name="adj" fmla="val 11429"/>
            </a:avLst>
          </a:prstGeom>
          <a:solidFill>
            <a:srgbClr val="7CB8FF">
              <a:alpha val="18000"/>
            </a:srgbClr>
          </a:solidFill>
          <a:ln w="31750">
            <a:solidFill>
              <a:srgbClr val="7CB8FF"/>
            </a:solidFill>
            <a:prstDash val="solid"/>
          </a:ln>
        </p:spPr>
      </p:sp>
      <p:sp>
        <p:nvSpPr>
          <p:cNvPr id="7" name="Shape 5"/>
          <p:cNvSpPr/>
          <p:nvPr/>
        </p:nvSpPr>
        <p:spPr>
          <a:xfrm>
            <a:off x="10607040" y="3337560"/>
            <a:ext cx="960120" cy="1645920"/>
          </a:xfrm>
          <a:prstGeom prst="roundRect">
            <a:avLst>
              <a:gd name="adj" fmla="val 11429"/>
            </a:avLst>
          </a:prstGeom>
          <a:solidFill>
            <a:srgbClr val="7CB8FF">
              <a:alpha val="45000"/>
            </a:srgbClr>
          </a:solidFill>
          <a:ln w="31750">
            <a:solidFill>
              <a:srgbClr val="7CB8FF"/>
            </a:solidFill>
            <a:prstDash val="solid"/>
          </a:ln>
        </p:spPr>
      </p:sp>
      <p:sp>
        <p:nvSpPr>
          <p:cNvPr id="8" name="Text 6"/>
          <p:cNvSpPr/>
          <p:nvPr/>
        </p:nvSpPr>
        <p:spPr>
          <a:xfrm>
            <a:off x="548640" y="6016752"/>
            <a:ext cx="11094415" cy="457200"/>
          </a:xfrm>
          <a:prstGeom prst="rect">
            <a:avLst/>
          </a:prstGeom>
          <a:noFill/>
          <a:ln/>
        </p:spPr>
        <p:txBody>
          <a:bodyPr wrap="square" lIns="0" tIns="0" rIns="0" bIns="0" rtlCol="0" anchor="b"/>
          <a:lstStyle/>
          <a:p>
            <a:pPr algn="l" indent="0" marL="0">
              <a:buNone/>
            </a:pPr>
            <a:r>
              <a:rPr lang="en-US" sz="2800" dirty="0">
                <a:solidFill>
                  <a:srgbClr val="B8C2D9"/>
                </a:solidFill>
                <a:latin typeface="Arial" pitchFamily="34" charset="0"/>
                <a:ea typeface="Arial" pitchFamily="34" charset="-122"/>
                <a:cs typeface="Arial" pitchFamily="34" charset="-120"/>
              </a:rPr>
              <a:t>Planned, not finished</a:t>
            </a:r>
            <a:endParaRPr lang="en-US" sz="2800" dirty="0"/>
          </a:p>
        </p:txBody>
      </p:sp>
    </p:spTree>
  </p:cSld>
  <p:clrMapOvr>
    <a:masterClrMapping/>
  </p:clrMapOvr>
  <p:transition spd="med" advClick="1" advTm="6000"/>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548640"/>
            <a:ext cx="2286000" cy="603504"/>
          </a:xfrm>
          <a:prstGeom prst="roundRect">
            <a:avLst>
              <a:gd name="adj" fmla="val 50000"/>
            </a:avLst>
          </a:prstGeom>
          <a:solidFill>
            <a:srgbClr val="7CB8FF">
              <a:alpha val="14000"/>
            </a:srgbClr>
          </a:solidFill>
          <a:ln w="25400">
            <a:solidFill>
              <a:srgbClr val="7CB8FF"/>
            </a:solidFill>
            <a:prstDash val="solid"/>
          </a:ln>
        </p:spPr>
      </p:sp>
      <p:sp>
        <p:nvSpPr>
          <p:cNvPr id="3" name="Text 1"/>
          <p:cNvSpPr/>
          <p:nvPr/>
        </p:nvSpPr>
        <p:spPr>
          <a:xfrm>
            <a:off x="548640" y="548640"/>
            <a:ext cx="2286000" cy="603504"/>
          </a:xfrm>
          <a:prstGeom prst="rect">
            <a:avLst/>
          </a:prstGeom>
          <a:noFill/>
          <a:ln/>
        </p:spPr>
        <p:txBody>
          <a:bodyPr wrap="square" lIns="0" tIns="0" rIns="0" bIns="0" rtlCol="0" anchor="ctr"/>
          <a:lstStyle/>
          <a:p>
            <a:pPr algn="ctr" indent="0" marL="0">
              <a:buNone/>
            </a:pPr>
            <a:r>
              <a:rPr lang="en-US" sz="2800" b="1" dirty="0">
                <a:solidFill>
                  <a:srgbClr val="7CB8FF"/>
                </a:solidFill>
                <a:latin typeface="Arial" pitchFamily="34" charset="0"/>
                <a:ea typeface="Arial" pitchFamily="34" charset="-122"/>
                <a:cs typeface="Arial" pitchFamily="34" charset="-120"/>
              </a:rPr>
              <a:t>PLANNED</a:t>
            </a:r>
            <a:endParaRPr lang="en-US" sz="2800" dirty="0"/>
          </a:p>
        </p:txBody>
      </p:sp>
      <p:sp>
        <p:nvSpPr>
          <p:cNvPr id="4" name="Text 2"/>
          <p:cNvSpPr/>
          <p:nvPr/>
        </p:nvSpPr>
        <p:spPr>
          <a:xfrm>
            <a:off x="548640" y="1371600"/>
            <a:ext cx="11094415" cy="1463040"/>
          </a:xfrm>
          <a:prstGeom prst="rect">
            <a:avLst/>
          </a:prstGeom>
          <a:noFill/>
          <a:ln/>
        </p:spPr>
        <p:txBody>
          <a:bodyPr wrap="square" lIns="0" tIns="0" rIns="0" bIns="0" rtlCol="0" anchor="ctr"/>
          <a:lstStyle/>
          <a:p>
            <a:pPr algn="l" indent="0" marL="0">
              <a:buNone/>
            </a:pPr>
            <a:r>
              <a:rPr lang="en-US" sz="9600" b="1" dirty="0">
                <a:solidFill>
                  <a:srgbClr val="F5F5F7"/>
                </a:solidFill>
                <a:latin typeface="Arial" pitchFamily="34" charset="0"/>
                <a:ea typeface="Arial" pitchFamily="34" charset="-122"/>
                <a:cs typeface="Arial" pitchFamily="34" charset="-120"/>
              </a:rPr>
              <a:t>FlameViz</a:t>
            </a:r>
            <a:endParaRPr lang="en-US" sz="9600" dirty="0"/>
          </a:p>
        </p:txBody>
      </p:sp>
      <p:sp>
        <p:nvSpPr>
          <p:cNvPr id="5" name="Text 3"/>
          <p:cNvSpPr/>
          <p:nvPr/>
        </p:nvSpPr>
        <p:spPr>
          <a:xfrm>
            <a:off x="548640" y="3154680"/>
            <a:ext cx="8503920" cy="1325880"/>
          </a:xfrm>
          <a:prstGeom prst="rect">
            <a:avLst/>
          </a:prstGeom>
          <a:noFill/>
          <a:ln/>
        </p:spPr>
        <p:txBody>
          <a:bodyPr wrap="square" lIns="0" tIns="0" rIns="0" bIns="0" rtlCol="0" anchor="t"/>
          <a:lstStyle/>
          <a:p>
            <a:pPr algn="l" indent="0" marL="0">
              <a:buNone/>
            </a:pPr>
            <a:r>
              <a:rPr lang="en-US" sz="4000" dirty="0">
                <a:solidFill>
                  <a:srgbClr val="F5F5F7"/>
                </a:solidFill>
                <a:latin typeface="Arial" pitchFamily="34" charset="0"/>
                <a:ea typeface="Arial" pitchFamily="34" charset="-122"/>
                <a:cs typeface="Arial" pitchFamily="34" charset="-120"/>
              </a:rPr>
              <a:t>Watch a flame spread at the speed</a:t>
            </a:r>
            <a:endParaRPr lang="en-US" sz="4000" dirty="0"/>
          </a:p>
          <a:p>
            <a:pPr algn="l" indent="0" marL="0">
              <a:buNone/>
            </a:pPr>
            <a:r>
              <a:rPr lang="en-US" sz="4000" dirty="0">
                <a:solidFill>
                  <a:srgbClr val="F5F5F7"/>
                </a:solidFill>
                <a:latin typeface="Arial" pitchFamily="34" charset="0"/>
                <a:ea typeface="Arial" pitchFamily="34" charset="-122"/>
                <a:cs typeface="Arial" pitchFamily="34" charset="-120"/>
              </a:rPr>
              <a:t>NASA actually measured.</a:t>
            </a:r>
            <a:endParaRPr lang="en-US" sz="4000" dirty="0"/>
          </a:p>
        </p:txBody>
      </p:sp>
      <p:sp>
        <p:nvSpPr>
          <p:cNvPr id="6" name="Shape 4"/>
          <p:cNvSpPr/>
          <p:nvPr/>
        </p:nvSpPr>
        <p:spPr>
          <a:xfrm>
            <a:off x="9601200" y="3246120"/>
            <a:ext cx="1828800" cy="1828800"/>
          </a:xfrm>
          <a:prstGeom prst="ellipse">
            <a:avLst/>
          </a:prstGeom>
          <a:solidFill>
            <a:srgbClr val="7CB8FF">
              <a:alpha val="18000"/>
            </a:srgbClr>
          </a:solidFill>
          <a:ln w="31750">
            <a:solidFill>
              <a:srgbClr val="7CB8FF"/>
            </a:solidFill>
            <a:prstDash val="solid"/>
          </a:ln>
        </p:spPr>
      </p:sp>
      <p:sp>
        <p:nvSpPr>
          <p:cNvPr id="7" name="Shape 5"/>
          <p:cNvSpPr/>
          <p:nvPr/>
        </p:nvSpPr>
        <p:spPr>
          <a:xfrm rot="5400000">
            <a:off x="10177272" y="3794760"/>
            <a:ext cx="731520" cy="731520"/>
          </a:xfrm>
          <a:prstGeom prst="triangle">
            <a:avLst/>
          </a:prstGeom>
          <a:solidFill>
            <a:srgbClr val="7CB8FF"/>
          </a:solidFill>
          <a:ln w="12700">
            <a:solidFill>
              <a:srgbClr val="7CB8FF"/>
            </a:solidFill>
            <a:prstDash val="solid"/>
          </a:ln>
        </p:spPr>
      </p:sp>
      <p:sp>
        <p:nvSpPr>
          <p:cNvPr id="8" name="Text 6"/>
          <p:cNvSpPr/>
          <p:nvPr/>
        </p:nvSpPr>
        <p:spPr>
          <a:xfrm>
            <a:off x="548640" y="6016752"/>
            <a:ext cx="11094415" cy="457200"/>
          </a:xfrm>
          <a:prstGeom prst="rect">
            <a:avLst/>
          </a:prstGeom>
          <a:noFill/>
          <a:ln/>
        </p:spPr>
        <p:txBody>
          <a:bodyPr wrap="square" lIns="0" tIns="0" rIns="0" bIns="0" rtlCol="0" anchor="b"/>
          <a:lstStyle/>
          <a:p>
            <a:pPr algn="l" indent="0" marL="0">
              <a:buNone/>
            </a:pPr>
            <a:r>
              <a:rPr lang="en-US" sz="2800" dirty="0">
                <a:solidFill>
                  <a:srgbClr val="B8C2D9"/>
                </a:solidFill>
                <a:latin typeface="Arial" pitchFamily="34" charset="0"/>
                <a:ea typeface="Arial" pitchFamily="34" charset="-122"/>
                <a:cs typeface="Arial" pitchFamily="34" charset="-120"/>
              </a:rPr>
              <a:t>Planned, not finished</a:t>
            </a:r>
            <a:endParaRPr lang="en-US" sz="2800" dirty="0"/>
          </a:p>
        </p:txBody>
      </p:sp>
    </p:spTree>
  </p:cSld>
  <p:clrMapOvr>
    <a:masterClrMapping/>
  </p:clrMapOvr>
  <p:transition spd="med" advClick="1" advTm="6000"/>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48640" y="411480"/>
            <a:ext cx="2834640" cy="603504"/>
          </a:xfrm>
          <a:prstGeom prst="roundRect">
            <a:avLst>
              <a:gd name="adj" fmla="val 50000"/>
            </a:avLst>
          </a:prstGeom>
          <a:solidFill>
            <a:srgbClr val="FF9F0A">
              <a:alpha val="14000"/>
            </a:srgbClr>
          </a:solidFill>
          <a:ln w="25400">
            <a:solidFill>
              <a:srgbClr val="FF9F0A"/>
            </a:solidFill>
            <a:prstDash val="solid"/>
          </a:ln>
        </p:spPr>
      </p:sp>
      <p:sp>
        <p:nvSpPr>
          <p:cNvPr id="3" name="Text 1"/>
          <p:cNvSpPr/>
          <p:nvPr/>
        </p:nvSpPr>
        <p:spPr>
          <a:xfrm>
            <a:off x="548640" y="411480"/>
            <a:ext cx="2834640" cy="603504"/>
          </a:xfrm>
          <a:prstGeom prst="rect">
            <a:avLst/>
          </a:prstGeom>
          <a:noFill/>
          <a:ln/>
        </p:spPr>
        <p:txBody>
          <a:bodyPr wrap="square" lIns="0" tIns="0" rIns="0" bIns="0" rtlCol="0" anchor="ctr"/>
          <a:lstStyle/>
          <a:p>
            <a:pPr algn="ctr" indent="0" marL="0">
              <a:buNone/>
            </a:pPr>
            <a:r>
              <a:rPr lang="en-US" sz="2800" b="1" dirty="0">
                <a:solidFill>
                  <a:srgbClr val="FF9F0A"/>
                </a:solidFill>
                <a:latin typeface="Arial" pitchFamily="34" charset="0"/>
                <a:ea typeface="Arial" pitchFamily="34" charset="-122"/>
                <a:cs typeface="Arial" pitchFamily="34" charset="-120"/>
              </a:rPr>
              <a:t>PROTOTYPE</a:t>
            </a:r>
            <a:endParaRPr lang="en-US" sz="2800" dirty="0"/>
          </a:p>
        </p:txBody>
      </p:sp>
      <p:sp>
        <p:nvSpPr>
          <p:cNvPr id="4" name="Shape 2"/>
          <p:cNvSpPr/>
          <p:nvPr/>
        </p:nvSpPr>
        <p:spPr>
          <a:xfrm>
            <a:off x="548640" y="1207008"/>
            <a:ext cx="6675120" cy="4330795"/>
          </a:xfrm>
          <a:prstGeom prst="roundRect">
            <a:avLst>
              <a:gd name="adj" fmla="val 4223"/>
            </a:avLst>
          </a:prstGeom>
          <a:solidFill>
            <a:srgbClr val="000000"/>
          </a:solidFill>
          <a:ln w="19050">
            <a:solidFill>
              <a:srgbClr val="3A4A7A"/>
            </a:solidFill>
            <a:prstDash val="solid"/>
          </a:ln>
        </p:spPr>
      </p:sp>
      <p:pic>
        <p:nvPicPr>
          <p:cNvPr id="5" name="Image 0" descr="C:\FlameScope\docs\video\screens\dashboard.png">    </p:cNvPr>
          <p:cNvPicPr>
            <a:picLocks noChangeAspect="1"/>
          </p:cNvPicPr>
          <p:nvPr/>
        </p:nvPicPr>
        <p:blipFill>
          <a:blip r:embed="rId1"/>
          <a:stretch>
            <a:fillRect/>
          </a:stretch>
        </p:blipFill>
        <p:spPr>
          <a:xfrm>
            <a:off x="640080" y="1298448"/>
            <a:ext cx="6492240" cy="4147915"/>
          </a:xfrm>
          <a:prstGeom prst="rect">
            <a:avLst/>
          </a:prstGeom>
        </p:spPr>
      </p:pic>
      <p:sp>
        <p:nvSpPr>
          <p:cNvPr id="6" name="Text 3"/>
          <p:cNvSpPr/>
          <p:nvPr/>
        </p:nvSpPr>
        <p:spPr>
          <a:xfrm>
            <a:off x="7635240" y="384048"/>
            <a:ext cx="4007815" cy="685800"/>
          </a:xfrm>
          <a:prstGeom prst="rect">
            <a:avLst/>
          </a:prstGeom>
          <a:noFill/>
          <a:ln/>
        </p:spPr>
        <p:txBody>
          <a:bodyPr wrap="square" lIns="0" tIns="0" rIns="0" bIns="0" rtlCol="0" anchor="ctr"/>
          <a:lstStyle/>
          <a:p>
            <a:pPr algn="l" indent="0" marL="0">
              <a:buNone/>
            </a:pPr>
            <a:r>
              <a:rPr lang="en-US" sz="4000" b="1" dirty="0">
                <a:solidFill>
                  <a:srgbClr val="F5F5F7"/>
                </a:solidFill>
                <a:latin typeface="Arial" pitchFamily="34" charset="0"/>
                <a:ea typeface="Arial" pitchFamily="34" charset="-122"/>
                <a:cs typeface="Arial" pitchFamily="34" charset="-120"/>
              </a:rPr>
              <a:t>One dashboard</a:t>
            </a:r>
            <a:endParaRPr lang="en-US" sz="4000" dirty="0"/>
          </a:p>
        </p:txBody>
      </p:sp>
      <p:sp>
        <p:nvSpPr>
          <p:cNvPr id="7" name="Shape 4"/>
          <p:cNvSpPr/>
          <p:nvPr/>
        </p:nvSpPr>
        <p:spPr>
          <a:xfrm>
            <a:off x="7635240" y="1207008"/>
            <a:ext cx="2286000" cy="603504"/>
          </a:xfrm>
          <a:prstGeom prst="roundRect">
            <a:avLst>
              <a:gd name="adj" fmla="val 50000"/>
            </a:avLst>
          </a:prstGeom>
          <a:solidFill>
            <a:srgbClr val="7CB8FF">
              <a:alpha val="14000"/>
            </a:srgbClr>
          </a:solidFill>
          <a:ln w="25400">
            <a:solidFill>
              <a:srgbClr val="7CB8FF"/>
            </a:solidFill>
            <a:prstDash val="solid"/>
          </a:ln>
        </p:spPr>
      </p:sp>
      <p:sp>
        <p:nvSpPr>
          <p:cNvPr id="8" name="Text 5"/>
          <p:cNvSpPr/>
          <p:nvPr/>
        </p:nvSpPr>
        <p:spPr>
          <a:xfrm>
            <a:off x="7635240" y="1207008"/>
            <a:ext cx="2286000" cy="603504"/>
          </a:xfrm>
          <a:prstGeom prst="rect">
            <a:avLst/>
          </a:prstGeom>
          <a:noFill/>
          <a:ln/>
        </p:spPr>
        <p:txBody>
          <a:bodyPr wrap="square" lIns="0" tIns="0" rIns="0" bIns="0" rtlCol="0" anchor="ctr"/>
          <a:lstStyle/>
          <a:p>
            <a:pPr algn="ctr" indent="0" marL="0">
              <a:buNone/>
            </a:pPr>
            <a:r>
              <a:rPr lang="en-US" sz="2800" b="1" dirty="0">
                <a:solidFill>
                  <a:srgbClr val="7CB8FF"/>
                </a:solidFill>
                <a:latin typeface="Arial" pitchFamily="34" charset="0"/>
                <a:ea typeface="Arial" pitchFamily="34" charset="-122"/>
                <a:cs typeface="Arial" pitchFamily="34" charset="-120"/>
              </a:rPr>
              <a:t>PLANNED</a:t>
            </a:r>
            <a:endParaRPr lang="en-US" sz="2800" dirty="0"/>
          </a:p>
        </p:txBody>
      </p:sp>
      <p:sp>
        <p:nvSpPr>
          <p:cNvPr id="9" name="Shape 6"/>
          <p:cNvSpPr/>
          <p:nvPr/>
        </p:nvSpPr>
        <p:spPr>
          <a:xfrm>
            <a:off x="7635240" y="1975104"/>
            <a:ext cx="4007815" cy="621792"/>
          </a:xfrm>
          <a:prstGeom prst="roundRect">
            <a:avLst>
              <a:gd name="adj" fmla="val 26471"/>
            </a:avLst>
          </a:prstGeom>
          <a:solidFill>
            <a:srgbClr val="0F1833">
              <a:alpha val="88000"/>
            </a:srgbClr>
          </a:solidFill>
          <a:ln w="19050">
            <a:solidFill>
              <a:srgbClr val="7CB8FF"/>
            </a:solidFill>
            <a:prstDash val="solid"/>
          </a:ln>
        </p:spPr>
      </p:sp>
      <p:sp>
        <p:nvSpPr>
          <p:cNvPr id="10" name="Text 7"/>
          <p:cNvSpPr/>
          <p:nvPr/>
        </p:nvSpPr>
        <p:spPr>
          <a:xfrm>
            <a:off x="7891272" y="1975104"/>
            <a:ext cx="3642055" cy="621792"/>
          </a:xfrm>
          <a:prstGeom prst="rect">
            <a:avLst/>
          </a:prstGeom>
          <a:noFill/>
          <a:ln/>
        </p:spPr>
        <p:txBody>
          <a:bodyPr wrap="square" lIns="0" tIns="0" rIns="0" bIns="0" rtlCol="0" anchor="ctr"/>
          <a:lstStyle/>
          <a:p>
            <a:pPr algn="l" indent="0" marL="0">
              <a:buNone/>
            </a:pPr>
            <a:r>
              <a:rPr lang="en-US" sz="2800" b="1" dirty="0">
                <a:solidFill>
                  <a:srgbClr val="F5F5F7"/>
                </a:solidFill>
                <a:latin typeface="Arial" pitchFamily="34" charset="0"/>
                <a:ea typeface="Arial" pitchFamily="34" charset="-122"/>
                <a:cs typeface="Arial" pitchFamily="34" charset="-120"/>
              </a:rPr>
              <a:t>ChatBot</a:t>
            </a:r>
            <a:endParaRPr lang="en-US" sz="2800" dirty="0"/>
          </a:p>
        </p:txBody>
      </p:sp>
      <p:sp>
        <p:nvSpPr>
          <p:cNvPr id="11" name="Shape 8"/>
          <p:cNvSpPr/>
          <p:nvPr/>
        </p:nvSpPr>
        <p:spPr>
          <a:xfrm>
            <a:off x="7635240" y="2706624"/>
            <a:ext cx="4007815" cy="621792"/>
          </a:xfrm>
          <a:prstGeom prst="roundRect">
            <a:avLst>
              <a:gd name="adj" fmla="val 26471"/>
            </a:avLst>
          </a:prstGeom>
          <a:solidFill>
            <a:srgbClr val="0F1833">
              <a:alpha val="88000"/>
            </a:srgbClr>
          </a:solidFill>
          <a:ln w="19050">
            <a:solidFill>
              <a:srgbClr val="7CB8FF"/>
            </a:solidFill>
            <a:prstDash val="solid"/>
          </a:ln>
        </p:spPr>
      </p:sp>
      <p:sp>
        <p:nvSpPr>
          <p:cNvPr id="12" name="Text 9"/>
          <p:cNvSpPr/>
          <p:nvPr/>
        </p:nvSpPr>
        <p:spPr>
          <a:xfrm>
            <a:off x="7891272" y="2706624"/>
            <a:ext cx="3642055" cy="621792"/>
          </a:xfrm>
          <a:prstGeom prst="rect">
            <a:avLst/>
          </a:prstGeom>
          <a:noFill/>
          <a:ln/>
        </p:spPr>
        <p:txBody>
          <a:bodyPr wrap="square" lIns="0" tIns="0" rIns="0" bIns="0" rtlCol="0" anchor="ctr"/>
          <a:lstStyle/>
          <a:p>
            <a:pPr algn="l" indent="0" marL="0">
              <a:buNone/>
            </a:pPr>
            <a:r>
              <a:rPr lang="en-US" sz="2800" b="1" dirty="0">
                <a:solidFill>
                  <a:srgbClr val="F5F5F7"/>
                </a:solidFill>
                <a:latin typeface="Arial" pitchFamily="34" charset="0"/>
                <a:ea typeface="Arial" pitchFamily="34" charset="-122"/>
                <a:cs typeface="Arial" pitchFamily="34" charset="-120"/>
              </a:rPr>
              <a:t>Analysis tool</a:t>
            </a:r>
            <a:endParaRPr lang="en-US" sz="2800" dirty="0"/>
          </a:p>
        </p:txBody>
      </p:sp>
      <p:sp>
        <p:nvSpPr>
          <p:cNvPr id="13" name="Shape 10"/>
          <p:cNvSpPr/>
          <p:nvPr/>
        </p:nvSpPr>
        <p:spPr>
          <a:xfrm>
            <a:off x="7635240" y="3438144"/>
            <a:ext cx="4007815" cy="621792"/>
          </a:xfrm>
          <a:prstGeom prst="roundRect">
            <a:avLst>
              <a:gd name="adj" fmla="val 26471"/>
            </a:avLst>
          </a:prstGeom>
          <a:solidFill>
            <a:srgbClr val="0F1833">
              <a:alpha val="88000"/>
            </a:srgbClr>
          </a:solidFill>
          <a:ln w="19050">
            <a:solidFill>
              <a:srgbClr val="7CB8FF"/>
            </a:solidFill>
            <a:prstDash val="solid"/>
          </a:ln>
        </p:spPr>
      </p:sp>
      <p:sp>
        <p:nvSpPr>
          <p:cNvPr id="14" name="Text 11"/>
          <p:cNvSpPr/>
          <p:nvPr/>
        </p:nvSpPr>
        <p:spPr>
          <a:xfrm>
            <a:off x="7891272" y="3438144"/>
            <a:ext cx="3642055" cy="621792"/>
          </a:xfrm>
          <a:prstGeom prst="rect">
            <a:avLst/>
          </a:prstGeom>
          <a:noFill/>
          <a:ln/>
        </p:spPr>
        <p:txBody>
          <a:bodyPr wrap="square" lIns="0" tIns="0" rIns="0" bIns="0" rtlCol="0" anchor="ctr"/>
          <a:lstStyle/>
          <a:p>
            <a:pPr algn="l" indent="0" marL="0">
              <a:buNone/>
            </a:pPr>
            <a:r>
              <a:rPr lang="en-US" sz="2800" b="1" dirty="0">
                <a:solidFill>
                  <a:srgbClr val="F5F5F7"/>
                </a:solidFill>
                <a:latin typeface="Arial" pitchFamily="34" charset="0"/>
                <a:ea typeface="Arial" pitchFamily="34" charset="-122"/>
                <a:cs typeface="Arial" pitchFamily="34" charset="-120"/>
              </a:rPr>
              <a:t>Comparison tool</a:t>
            </a:r>
            <a:endParaRPr lang="en-US" sz="2800" dirty="0"/>
          </a:p>
        </p:txBody>
      </p:sp>
      <p:sp>
        <p:nvSpPr>
          <p:cNvPr id="15" name="Shape 12"/>
          <p:cNvSpPr/>
          <p:nvPr/>
        </p:nvSpPr>
        <p:spPr>
          <a:xfrm>
            <a:off x="7635240" y="4169664"/>
            <a:ext cx="4007815" cy="621792"/>
          </a:xfrm>
          <a:prstGeom prst="roundRect">
            <a:avLst>
              <a:gd name="adj" fmla="val 26471"/>
            </a:avLst>
          </a:prstGeom>
          <a:solidFill>
            <a:srgbClr val="0F1833">
              <a:alpha val="88000"/>
            </a:srgbClr>
          </a:solidFill>
          <a:ln w="19050">
            <a:solidFill>
              <a:srgbClr val="7CB8FF"/>
            </a:solidFill>
            <a:prstDash val="solid"/>
          </a:ln>
        </p:spPr>
      </p:sp>
      <p:sp>
        <p:nvSpPr>
          <p:cNvPr id="16" name="Text 13"/>
          <p:cNvSpPr/>
          <p:nvPr/>
        </p:nvSpPr>
        <p:spPr>
          <a:xfrm>
            <a:off x="7891272" y="4169664"/>
            <a:ext cx="3642055" cy="621792"/>
          </a:xfrm>
          <a:prstGeom prst="rect">
            <a:avLst/>
          </a:prstGeom>
          <a:noFill/>
          <a:ln/>
        </p:spPr>
        <p:txBody>
          <a:bodyPr wrap="square" lIns="0" tIns="0" rIns="0" bIns="0" rtlCol="0" anchor="ctr"/>
          <a:lstStyle/>
          <a:p>
            <a:pPr algn="l" indent="0" marL="0">
              <a:buNone/>
            </a:pPr>
            <a:r>
              <a:rPr lang="en-US" sz="2800" b="1" dirty="0">
                <a:solidFill>
                  <a:srgbClr val="F5F5F7"/>
                </a:solidFill>
                <a:latin typeface="Arial" pitchFamily="34" charset="0"/>
                <a:ea typeface="Arial" pitchFamily="34" charset="-122"/>
                <a:cs typeface="Arial" pitchFamily="34" charset="-120"/>
              </a:rPr>
              <a:t>FlameViz</a:t>
            </a:r>
            <a:endParaRPr lang="en-US" sz="2800" dirty="0"/>
          </a:p>
        </p:txBody>
      </p:sp>
      <p:sp>
        <p:nvSpPr>
          <p:cNvPr id="17" name="Shape 14"/>
          <p:cNvSpPr/>
          <p:nvPr/>
        </p:nvSpPr>
        <p:spPr>
          <a:xfrm>
            <a:off x="7635240" y="4901184"/>
            <a:ext cx="4007815" cy="621792"/>
          </a:xfrm>
          <a:prstGeom prst="roundRect">
            <a:avLst>
              <a:gd name="adj" fmla="val 26471"/>
            </a:avLst>
          </a:prstGeom>
          <a:solidFill>
            <a:srgbClr val="0F1833">
              <a:alpha val="88000"/>
            </a:srgbClr>
          </a:solidFill>
          <a:ln w="19050">
            <a:solidFill>
              <a:srgbClr val="7CB8FF"/>
            </a:solidFill>
            <a:prstDash val="dash"/>
          </a:ln>
        </p:spPr>
      </p:sp>
      <p:sp>
        <p:nvSpPr>
          <p:cNvPr id="18" name="Text 15"/>
          <p:cNvSpPr/>
          <p:nvPr/>
        </p:nvSpPr>
        <p:spPr>
          <a:xfrm>
            <a:off x="7891272" y="4901184"/>
            <a:ext cx="3642055" cy="621792"/>
          </a:xfrm>
          <a:prstGeom prst="rect">
            <a:avLst/>
          </a:prstGeom>
          <a:noFill/>
          <a:ln/>
        </p:spPr>
        <p:txBody>
          <a:bodyPr wrap="square" lIns="0" tIns="0" rIns="0" bIns="0" rtlCol="0" anchor="ctr"/>
          <a:lstStyle/>
          <a:p>
            <a:pPr algn="l" indent="0" marL="0">
              <a:buNone/>
            </a:pPr>
            <a:r>
              <a:rPr lang="en-US" sz="2800" dirty="0">
                <a:solidFill>
                  <a:srgbClr val="B8C2D9"/>
                </a:solidFill>
                <a:latin typeface="Arial" pitchFamily="34" charset="0"/>
                <a:ea typeface="Arial" pitchFamily="34" charset="-122"/>
                <a:cs typeface="Arial" pitchFamily="34" charset="-120"/>
              </a:rPr>
              <a:t>More to come</a:t>
            </a:r>
            <a:endParaRPr lang="en-US" sz="2800" dirty="0"/>
          </a:p>
        </p:txBody>
      </p:sp>
      <p:sp>
        <p:nvSpPr>
          <p:cNvPr id="19" name="Text 16"/>
          <p:cNvSpPr/>
          <p:nvPr/>
        </p:nvSpPr>
        <p:spPr>
          <a:xfrm>
            <a:off x="548640" y="5943600"/>
            <a:ext cx="11094415" cy="530352"/>
          </a:xfrm>
          <a:prstGeom prst="rect">
            <a:avLst/>
          </a:prstGeom>
          <a:noFill/>
          <a:ln/>
        </p:spPr>
        <p:txBody>
          <a:bodyPr wrap="square" lIns="0" tIns="0" rIns="0" bIns="0" rtlCol="0" anchor="b"/>
          <a:lstStyle/>
          <a:p>
            <a:pPr algn="l" indent="0" marL="0">
              <a:buNone/>
            </a:pPr>
            <a:r>
              <a:rPr lang="en-US" sz="3000" dirty="0">
                <a:solidFill>
                  <a:srgbClr val="F5F5F7"/>
                </a:solidFill>
                <a:latin typeface="Arial" pitchFamily="34" charset="0"/>
                <a:ea typeface="Arial" pitchFamily="34" charset="-122"/>
                <a:cs typeface="Arial" pitchFamily="34" charset="-120"/>
              </a:rPr>
              <a:t>Make NASA’s fire evidence easy to explore, compare and see.</a:t>
            </a:r>
            <a:endParaRPr lang="en-US" sz="3000" dirty="0"/>
          </a:p>
        </p:txBody>
      </p:sp>
    </p:spTree>
  </p:cSld>
  <p:clrMapOvr>
    <a:masterClrMapping/>
  </p:clrMapOvr>
  <p:transition spd="med" advClick="1" advTm="8000"/>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320040"/>
            <a:ext cx="11094415" cy="868680"/>
          </a:xfrm>
          <a:prstGeom prst="rect">
            <a:avLst/>
          </a:prstGeom>
          <a:noFill/>
          <a:ln/>
        </p:spPr>
        <p:txBody>
          <a:bodyPr wrap="square" lIns="0" tIns="0" rIns="0" bIns="0" rtlCol="0" anchor="t"/>
          <a:lstStyle/>
          <a:p>
            <a:pPr algn="l" indent="0" marL="0">
              <a:buNone/>
            </a:pPr>
            <a:r>
              <a:rPr lang="en-US" sz="5400" b="1" dirty="0">
                <a:solidFill>
                  <a:srgbClr val="F5F5F7"/>
                </a:solidFill>
                <a:latin typeface="Arial" pitchFamily="34" charset="0"/>
                <a:ea typeface="Arial" pitchFamily="34" charset="-122"/>
                <a:cs typeface="Arial" pitchFamily="34" charset="-120"/>
              </a:rPr>
              <a:t>A gap is an answer too.</a:t>
            </a:r>
            <a:endParaRPr lang="en-US" sz="5400" dirty="0"/>
          </a:p>
        </p:txBody>
      </p:sp>
      <p:sp>
        <p:nvSpPr>
          <p:cNvPr id="3" name="Text 1"/>
          <p:cNvSpPr/>
          <p:nvPr/>
        </p:nvSpPr>
        <p:spPr>
          <a:xfrm>
            <a:off x="548640" y="1188720"/>
            <a:ext cx="11094415" cy="1005840"/>
          </a:xfrm>
          <a:prstGeom prst="rect">
            <a:avLst/>
          </a:prstGeom>
          <a:noFill/>
          <a:ln/>
        </p:spPr>
        <p:txBody>
          <a:bodyPr wrap="square" lIns="0" tIns="0" rIns="0" bIns="0" rtlCol="0" anchor="t"/>
          <a:lstStyle/>
          <a:p>
            <a:pPr algn="l" indent="0" marL="0">
              <a:buNone/>
            </a:pPr>
            <a:r>
              <a:rPr lang="en-US" sz="3200" dirty="0">
                <a:solidFill>
                  <a:srgbClr val="F5F5F7"/>
                </a:solidFill>
                <a:latin typeface="Arial" pitchFamily="34" charset="0"/>
                <a:ea typeface="Arial" pitchFamily="34" charset="-122"/>
                <a:cs typeface="Arial" pitchFamily="34" charset="-120"/>
              </a:rPr>
              <a:t>Each No data card says what’s missing,</a:t>
            </a:r>
            <a:endParaRPr lang="en-US" sz="3200" dirty="0"/>
          </a:p>
          <a:p>
            <a:pPr algn="l" indent="0" marL="0">
              <a:buNone/>
            </a:pPr>
            <a:r>
              <a:rPr lang="en-US" sz="3200" dirty="0">
                <a:solidFill>
                  <a:srgbClr val="F5F5F7"/>
                </a:solidFill>
                <a:latin typeface="Arial" pitchFamily="34" charset="0"/>
                <a:ea typeface="Arial" pitchFamily="34" charset="-122"/>
                <a:cs typeface="Arial" pitchFamily="34" charset="-120"/>
              </a:rPr>
              <a:t>and where that data may exist.</a:t>
            </a:r>
            <a:endParaRPr lang="en-US" sz="3200" dirty="0"/>
          </a:p>
        </p:txBody>
      </p:sp>
      <p:sp>
        <p:nvSpPr>
          <p:cNvPr id="4" name="Shape 2"/>
          <p:cNvSpPr/>
          <p:nvPr/>
        </p:nvSpPr>
        <p:spPr>
          <a:xfrm>
            <a:off x="1340968" y="2359152"/>
            <a:ext cx="4572000" cy="2812420"/>
          </a:xfrm>
          <a:prstGeom prst="roundRect">
            <a:avLst>
              <a:gd name="adj" fmla="val 6503"/>
            </a:avLst>
          </a:prstGeom>
          <a:solidFill>
            <a:srgbClr val="1C1C1E"/>
          </a:solidFill>
          <a:ln w="19050">
            <a:solidFill>
              <a:srgbClr val="3A4A7A"/>
            </a:solidFill>
            <a:prstDash val="solid"/>
          </a:ln>
        </p:spPr>
      </p:sp>
      <p:pic>
        <p:nvPicPr>
          <p:cNvPr id="5" name="Image 0" descr="C:\FlameScope\docs\video\screens\gap-gravity-luci.png">    </p:cNvPr>
          <p:cNvPicPr>
            <a:picLocks noChangeAspect="1"/>
          </p:cNvPicPr>
          <p:nvPr/>
        </p:nvPicPr>
        <p:blipFill>
          <a:blip r:embed="rId1"/>
          <a:stretch>
            <a:fillRect/>
          </a:stretch>
        </p:blipFill>
        <p:spPr>
          <a:xfrm>
            <a:off x="1432408" y="2450592"/>
            <a:ext cx="4389120" cy="2629540"/>
          </a:xfrm>
          <a:prstGeom prst="rect">
            <a:avLst/>
          </a:prstGeom>
        </p:spPr>
      </p:pic>
      <p:sp>
        <p:nvSpPr>
          <p:cNvPr id="6" name="Shape 3"/>
          <p:cNvSpPr/>
          <p:nvPr/>
        </p:nvSpPr>
        <p:spPr>
          <a:xfrm>
            <a:off x="6278728" y="2359152"/>
            <a:ext cx="4572000" cy="3112237"/>
          </a:xfrm>
          <a:prstGeom prst="roundRect">
            <a:avLst>
              <a:gd name="adj" fmla="val 5876"/>
            </a:avLst>
          </a:prstGeom>
          <a:solidFill>
            <a:srgbClr val="1C1C1E"/>
          </a:solidFill>
          <a:ln w="19050">
            <a:solidFill>
              <a:srgbClr val="3A4A7A"/>
            </a:solidFill>
            <a:prstDash val="solid"/>
          </a:ln>
        </p:spPr>
      </p:sp>
      <p:pic>
        <p:nvPicPr>
          <p:cNvPr id="7" name="Image 1" descr="C:\FlameScope\docs\video\screens\gap-where-the-data-is.png">    </p:cNvPr>
          <p:cNvPicPr>
            <a:picLocks noChangeAspect="1"/>
          </p:cNvPicPr>
          <p:nvPr/>
        </p:nvPicPr>
        <p:blipFill>
          <a:blip r:embed="rId2"/>
          <a:stretch>
            <a:fillRect/>
          </a:stretch>
        </p:blipFill>
        <p:spPr>
          <a:xfrm>
            <a:off x="6370168" y="2450592"/>
            <a:ext cx="4389120" cy="2929357"/>
          </a:xfrm>
          <a:prstGeom prst="rect">
            <a:avLst/>
          </a:prstGeom>
        </p:spPr>
      </p:pic>
      <p:sp>
        <p:nvSpPr>
          <p:cNvPr id="8" name="Text 4"/>
          <p:cNvSpPr/>
          <p:nvPr/>
        </p:nvSpPr>
        <p:spPr>
          <a:xfrm>
            <a:off x="548640" y="5596128"/>
            <a:ext cx="11094415" cy="877824"/>
          </a:xfrm>
          <a:prstGeom prst="rect">
            <a:avLst/>
          </a:prstGeom>
          <a:noFill/>
          <a:ln/>
        </p:spPr>
        <p:txBody>
          <a:bodyPr wrap="square" lIns="0" tIns="0" rIns="0" bIns="0" rtlCol="0" anchor="b"/>
          <a:lstStyle/>
          <a:p>
            <a:pPr algn="l" indent="0" marL="0">
              <a:buNone/>
            </a:pPr>
            <a:r>
              <a:rPr lang="en-US" sz="2800" dirty="0">
                <a:solidFill>
                  <a:srgbClr val="B8C2D9"/>
                </a:solidFill>
                <a:latin typeface="Arial" pitchFamily="34" charset="0"/>
                <a:ea typeface="Arial" pitchFamily="34" charset="-122"/>
                <a:cs typeface="Arial" pitchFamily="34" charset="-120"/>
              </a:rPr>
              <a:t>Sources: LUCI, NASA (2025), NTRS 20250010653</a:t>
            </a:r>
            <a:endParaRPr lang="en-US" sz="2800" dirty="0"/>
          </a:p>
          <a:p>
            <a:pPr algn="l" indent="0" marL="0">
              <a:buNone/>
            </a:pPr>
            <a:r>
              <a:rPr lang="en-US" sz="2800" dirty="0">
                <a:solidFill>
                  <a:srgbClr val="B8C2D9"/>
                </a:solidFill>
                <a:latin typeface="Arial" pitchFamily="34" charset="0"/>
                <a:ea typeface="Arial" pitchFamily="34" charset="-122"/>
                <a:cs typeface="Arial" pitchFamily="34" charset="-120"/>
              </a:rPr>
              <a:t>Saffire V and VI, NASA ICES-2024-365, Table 1</a:t>
            </a:r>
            <a:endParaRPr lang="en-US" sz="2800" dirty="0"/>
          </a:p>
        </p:txBody>
      </p:sp>
    </p:spTree>
  </p:cSld>
  <p:clrMapOvr>
    <a:masterClrMapping/>
  </p:clrMapOvr>
  <p:transition spd="med" advClick="1" advTm="13000"/>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1234440"/>
            <a:ext cx="11094415" cy="3017520"/>
          </a:xfrm>
          <a:prstGeom prst="rect">
            <a:avLst/>
          </a:prstGeom>
          <a:noFill/>
          <a:ln/>
        </p:spPr>
        <p:txBody>
          <a:bodyPr wrap="square" lIns="0" tIns="0" rIns="0" bIns="0" rtlCol="0" anchor="ctr"/>
          <a:lstStyle/>
          <a:p>
            <a:pPr algn="l" indent="0" marL="0">
              <a:buNone/>
            </a:pPr>
            <a:r>
              <a:rPr lang="en-US" sz="9600" b="1" dirty="0">
                <a:solidFill>
                  <a:srgbClr val="F5F5F7"/>
                </a:solidFill>
                <a:latin typeface="Arial" pitchFamily="34" charset="0"/>
                <a:ea typeface="Arial" pitchFamily="34" charset="-122"/>
                <a:cs typeface="Arial" pitchFamily="34" charset="-120"/>
              </a:rPr>
              <a:t>No AI writes</a:t>
            </a:r>
            <a:endParaRPr lang="en-US" sz="9600" dirty="0"/>
          </a:p>
          <a:p>
            <a:pPr algn="l" indent="0" marL="0">
              <a:buNone/>
            </a:pPr>
            <a:r>
              <a:rPr lang="en-US" sz="9600" b="1" dirty="0">
                <a:solidFill>
                  <a:srgbClr val="F5F5F7"/>
                </a:solidFill>
                <a:latin typeface="Arial" pitchFamily="34" charset="0"/>
                <a:ea typeface="Arial" pitchFamily="34" charset="-122"/>
                <a:cs typeface="Arial" pitchFamily="34" charset="-120"/>
              </a:rPr>
              <a:t>a number.</a:t>
            </a:r>
            <a:endParaRPr lang="en-US" sz="9600" dirty="0"/>
          </a:p>
        </p:txBody>
      </p:sp>
      <p:sp>
        <p:nvSpPr>
          <p:cNvPr id="3" name="Text 1"/>
          <p:cNvSpPr/>
          <p:nvPr/>
        </p:nvSpPr>
        <p:spPr>
          <a:xfrm>
            <a:off x="548640" y="4526280"/>
            <a:ext cx="11094415" cy="685800"/>
          </a:xfrm>
          <a:prstGeom prst="rect">
            <a:avLst/>
          </a:prstGeom>
          <a:noFill/>
          <a:ln/>
        </p:spPr>
        <p:txBody>
          <a:bodyPr wrap="square" lIns="0" tIns="0" rIns="0" bIns="0" rtlCol="0" anchor="t"/>
          <a:lstStyle/>
          <a:p>
            <a:pPr algn="l" indent="0" marL="0">
              <a:buNone/>
            </a:pPr>
            <a:r>
              <a:rPr lang="en-US" sz="4000" dirty="0">
                <a:solidFill>
                  <a:srgbClr val="B8C2D9"/>
                </a:solidFill>
                <a:latin typeface="Arial" pitchFamily="34" charset="0"/>
                <a:ea typeface="Arial" pitchFamily="34" charset="-122"/>
                <a:cs typeface="Arial" pitchFamily="34" charset="-120"/>
              </a:rPr>
              <a:t>Every number links back to its source.</a:t>
            </a:r>
            <a:endParaRPr lang="en-US" sz="4000" dirty="0"/>
          </a:p>
        </p:txBody>
      </p:sp>
    </p:spTree>
  </p:cSld>
  <p:clrMapOvr>
    <a:masterClrMapping/>
  </p:clrMapOvr>
  <p:transition spd="med" advClick="1" advTm="8000"/>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1051560"/>
            <a:ext cx="11094415" cy="1737360"/>
          </a:xfrm>
          <a:prstGeom prst="rect">
            <a:avLst/>
          </a:prstGeom>
          <a:noFill/>
          <a:ln/>
        </p:spPr>
        <p:txBody>
          <a:bodyPr wrap="square" lIns="0" tIns="0" rIns="0" bIns="0" rtlCol="0" anchor="ctr"/>
          <a:lstStyle/>
          <a:p>
            <a:pPr algn="l" indent="0" marL="0">
              <a:buNone/>
            </a:pPr>
            <a:r>
              <a:rPr lang="en-US" sz="10400" b="1" dirty="0">
                <a:solidFill>
                  <a:srgbClr val="F5F5F7"/>
                </a:solidFill>
                <a:latin typeface="Arial" pitchFamily="34" charset="0"/>
                <a:ea typeface="Arial" pitchFamily="34" charset="-122"/>
                <a:cs typeface="Arial" pitchFamily="34" charset="-120"/>
              </a:rPr>
              <a:t>Will It Burn?</a:t>
            </a:r>
            <a:endParaRPr lang="en-US" sz="10400" dirty="0"/>
          </a:p>
        </p:txBody>
      </p:sp>
      <p:sp>
        <p:nvSpPr>
          <p:cNvPr id="3" name="Text 1"/>
          <p:cNvSpPr/>
          <p:nvPr/>
        </p:nvSpPr>
        <p:spPr>
          <a:xfrm>
            <a:off x="548640" y="3017520"/>
            <a:ext cx="11094415" cy="685800"/>
          </a:xfrm>
          <a:prstGeom prst="rect">
            <a:avLst/>
          </a:prstGeom>
          <a:noFill/>
          <a:ln/>
        </p:spPr>
        <p:txBody>
          <a:bodyPr wrap="square" lIns="0" tIns="0" rIns="0" bIns="0" rtlCol="0" anchor="t"/>
          <a:lstStyle/>
          <a:p>
            <a:pPr algn="l" indent="0" marL="0">
              <a:buNone/>
            </a:pPr>
            <a:r>
              <a:rPr lang="en-US" sz="4400" b="1" dirty="0">
                <a:solidFill>
                  <a:srgbClr val="F5F5F7"/>
                </a:solidFill>
                <a:latin typeface="Arial" pitchFamily="34" charset="0"/>
                <a:ea typeface="Arial" pitchFamily="34" charset="-122"/>
                <a:cs typeface="Arial" pitchFamily="34" charset="-120"/>
              </a:rPr>
              <a:t>Team Polaris</a:t>
            </a:r>
            <a:endParaRPr lang="en-US" sz="4400" dirty="0"/>
          </a:p>
        </p:txBody>
      </p:sp>
      <p:sp>
        <p:nvSpPr>
          <p:cNvPr id="4" name="Text 2"/>
          <p:cNvSpPr/>
          <p:nvPr/>
        </p:nvSpPr>
        <p:spPr>
          <a:xfrm>
            <a:off x="548640" y="3749040"/>
            <a:ext cx="11094415" cy="594360"/>
          </a:xfrm>
          <a:prstGeom prst="rect">
            <a:avLst/>
          </a:prstGeom>
          <a:noFill/>
          <a:ln/>
        </p:spPr>
        <p:txBody>
          <a:bodyPr wrap="square" lIns="0" tIns="0" rIns="0" bIns="0" rtlCol="0" anchor="t"/>
          <a:lstStyle/>
          <a:p>
            <a:pPr algn="l" indent="0" marL="0">
              <a:buNone/>
            </a:pPr>
            <a:r>
              <a:rPr lang="en-US" sz="3600" dirty="0">
                <a:solidFill>
                  <a:srgbClr val="B8C2D9"/>
                </a:solidFill>
                <a:latin typeface="Arial" pitchFamily="34" charset="0"/>
                <a:ea typeface="Arial" pitchFamily="34" charset="-122"/>
                <a:cs typeface="Arial" pitchFamily="34" charset="-120"/>
              </a:rPr>
              <a:t>NASA Space Apps 2026: Flame in Freefall</a:t>
            </a:r>
            <a:endParaRPr lang="en-US" sz="3600" dirty="0"/>
          </a:p>
        </p:txBody>
      </p:sp>
      <p:sp>
        <p:nvSpPr>
          <p:cNvPr id="5" name="Text 3"/>
          <p:cNvSpPr/>
          <p:nvPr/>
        </p:nvSpPr>
        <p:spPr>
          <a:xfrm>
            <a:off x="548640" y="4892040"/>
            <a:ext cx="11094415" cy="594360"/>
          </a:xfrm>
          <a:prstGeom prst="rect">
            <a:avLst/>
          </a:prstGeom>
          <a:noFill/>
          <a:ln/>
        </p:spPr>
        <p:txBody>
          <a:bodyPr wrap="square" lIns="0" tIns="0" rIns="0" bIns="0" rtlCol="0" anchor="t"/>
          <a:lstStyle/>
          <a:p>
            <a:pPr algn="l" indent="0" marL="0">
              <a:buNone/>
            </a:pPr>
            <a:r>
              <a:rPr lang="en-US" sz="3600" dirty="0">
                <a:solidFill>
                  <a:srgbClr val="7CB8FF"/>
                </a:solidFill>
                <a:latin typeface="Arial" pitchFamily="34" charset="0"/>
                <a:ea typeface="Arial" pitchFamily="34" charset="-122"/>
                <a:cs typeface="Arial" pitchFamily="34" charset="-120"/>
              </a:rPr>
              <a:t>github.com/ShuvroShimuL/FlameScope</a:t>
            </a:r>
            <a:endParaRPr lang="en-US" sz="3600" dirty="0"/>
          </a:p>
        </p:txBody>
      </p:sp>
    </p:spTree>
  </p:cSld>
  <p:clrMapOvr>
    <a:masterClrMapping/>
  </p:clrMapOvr>
  <p:transition spd="med" advClick="1" advTm="9000"/>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48640" y="365760"/>
            <a:ext cx="11094415" cy="777240"/>
          </a:xfrm>
          <a:prstGeom prst="rect">
            <a:avLst/>
          </a:prstGeom>
          <a:noFill/>
          <a:ln/>
        </p:spPr>
        <p:txBody>
          <a:bodyPr wrap="square" lIns="0" tIns="0" rIns="0" bIns="0" rtlCol="0" anchor="t"/>
          <a:lstStyle/>
          <a:p>
            <a:pPr algn="l" indent="0" marL="0">
              <a:buNone/>
            </a:pPr>
            <a:r>
              <a:rPr lang="en-US" sz="4800" b="1" dirty="0">
                <a:solidFill>
                  <a:srgbClr val="F5F5F7"/>
                </a:solidFill>
                <a:latin typeface="Arial" pitchFamily="34" charset="0"/>
                <a:ea typeface="Arial" pitchFamily="34" charset="-122"/>
                <a:cs typeface="Arial" pitchFamily="34" charset="-120"/>
              </a:rPr>
              <a:t>Credits</a:t>
            </a:r>
            <a:endParaRPr lang="en-US" sz="4800" dirty="0"/>
          </a:p>
        </p:txBody>
      </p:sp>
      <p:sp>
        <p:nvSpPr>
          <p:cNvPr id="3" name="Text 1"/>
          <p:cNvSpPr/>
          <p:nvPr/>
        </p:nvSpPr>
        <p:spPr>
          <a:xfrm>
            <a:off x="548640" y="1325880"/>
            <a:ext cx="11094415" cy="5074920"/>
          </a:xfrm>
          <a:prstGeom prst="rect">
            <a:avLst/>
          </a:prstGeom>
          <a:noFill/>
          <a:ln/>
        </p:spPr>
        <p:txBody>
          <a:bodyPr wrap="square" lIns="0" tIns="0" rIns="0" bIns="0" rtlCol="0" anchor="t"/>
          <a:lstStyle/>
          <a:p>
            <a:pPr algn="l" indent="0" marL="0">
              <a:spcAft>
                <a:spcPts val="900"/>
              </a:spcAft>
              <a:buNone/>
            </a:pPr>
            <a:r>
              <a:rPr lang="en-US" sz="2800" dirty="0">
                <a:solidFill>
                  <a:srgbClr val="F5F5F7"/>
                </a:solidFill>
                <a:latin typeface="Arial" pitchFamily="34" charset="0"/>
                <a:ea typeface="Arial" pitchFamily="34" charset="-122"/>
                <a:cs typeface="Arial" pitchFamily="34" charset="-120"/>
              </a:rPr>
              <a:t>NASA footage and images: NASA</a:t>
            </a:r>
            <a:endParaRPr lang="en-US" sz="2800" dirty="0"/>
          </a:p>
          <a:p>
            <a:pPr algn="l" indent="0" marL="0">
              <a:spcAft>
                <a:spcPts val="900"/>
              </a:spcAft>
              <a:buNone/>
            </a:pPr>
            <a:r>
              <a:rPr lang="en-US" sz="2800" dirty="0">
                <a:solidFill>
                  <a:srgbClr val="F5F5F7"/>
                </a:solidFill>
                <a:latin typeface="Arial" pitchFamily="34" charset="0"/>
                <a:ea typeface="Arial" pitchFamily="34" charset="-122"/>
                <a:cs typeface="Arial" pitchFamily="34" charset="-120"/>
              </a:rPr>
              <a:t>Star field and slide graphics: Team Polaris</a:t>
            </a:r>
            <a:endParaRPr lang="en-US" sz="2800" dirty="0"/>
          </a:p>
          <a:p>
            <a:pPr algn="l" indent="0" marL="0">
              <a:spcAft>
                <a:spcPts val="900"/>
              </a:spcAft>
              <a:buNone/>
            </a:pPr>
            <a:r>
              <a:rPr lang="en-US" sz="2800" dirty="0">
                <a:solidFill>
                  <a:srgbClr val="F5F5F7"/>
                </a:solidFill>
                <a:latin typeface="Arial" pitchFamily="34" charset="0"/>
                <a:ea typeface="Arial" pitchFamily="34" charset="-122"/>
                <a:cs typeface="Arial" pitchFamily="34" charset="-120"/>
              </a:rPr>
              <a:t>Music: </a:t>
            </a:r>
            <a:pPr algn="l" indent="0" marL="0">
              <a:spcAft>
                <a:spcPts val="900"/>
              </a:spcAft>
              <a:buNone/>
            </a:pPr>
            <a:r>
              <a:rPr lang="en-US" sz="2800" b="1" dirty="0">
                <a:solidFill>
                  <a:srgbClr val="FF4FD8"/>
                </a:solidFill>
                <a:latin typeface="Arial" pitchFamily="34" charset="0"/>
                <a:ea typeface="Arial" pitchFamily="34" charset="-122"/>
                <a:cs typeface="Arial" pitchFamily="34" charset="-120"/>
              </a:rPr>
              <a:t>[track name]</a:t>
            </a:r>
            <a:pPr algn="l" indent="0" marL="0">
              <a:spcAft>
                <a:spcPts val="900"/>
              </a:spcAft>
              <a:buNone/>
            </a:pPr>
            <a:r>
              <a:rPr lang="en-US" sz="2800" dirty="0">
                <a:solidFill>
                  <a:srgbClr val="F5F5F7"/>
                </a:solidFill>
                <a:latin typeface="Arial" pitchFamily="34" charset="0"/>
                <a:ea typeface="Arial" pitchFamily="34" charset="-122"/>
                <a:cs typeface="Arial" pitchFamily="34" charset="-120"/>
              </a:rPr>
              <a:t>, YouTube Audio Library</a:t>
            </a:r>
            <a:endParaRPr lang="en-US" sz="2800" dirty="0"/>
          </a:p>
          <a:p>
            <a:pPr algn="l" indent="0" marL="0">
              <a:spcAft>
                <a:spcPts val="900"/>
              </a:spcAft>
              <a:buNone/>
            </a:pPr>
            <a:r>
              <a:rPr lang="en-US" sz="2800" b="1" dirty="0">
                <a:solidFill>
                  <a:srgbClr val="FF4FD8"/>
                </a:solidFill>
                <a:latin typeface="Arial" pitchFamily="34" charset="0"/>
                <a:ea typeface="Arial" pitchFamily="34" charset="-122"/>
                <a:cs typeface="Arial" pitchFamily="34" charset="-120"/>
              </a:rPr>
              <a:t>[Only if used]</a:t>
            </a:r>
            <a:pPr algn="l" indent="0" marL="0">
              <a:spcAft>
                <a:spcPts val="900"/>
              </a:spcAft>
              <a:buNone/>
            </a:pPr>
            <a:r>
              <a:rPr lang="en-US" sz="2800" dirty="0">
                <a:solidFill>
                  <a:srgbClr val="F5F5F7"/>
                </a:solidFill>
                <a:latin typeface="Arial" pitchFamily="34" charset="0"/>
                <a:ea typeface="Arial" pitchFamily="34" charset="-122"/>
                <a:cs typeface="Arial" pitchFamily="34" charset="-120"/>
              </a:rPr>
              <a:t> AI voice: </a:t>
            </a:r>
            <a:pPr algn="l" indent="0" marL="0">
              <a:spcAft>
                <a:spcPts val="900"/>
              </a:spcAft>
              <a:buNone/>
            </a:pPr>
            <a:r>
              <a:rPr lang="en-US" sz="2800" b="1" dirty="0">
                <a:solidFill>
                  <a:srgbClr val="FF4FD8"/>
                </a:solidFill>
                <a:latin typeface="Arial" pitchFamily="34" charset="0"/>
                <a:ea typeface="Arial" pitchFamily="34" charset="-122"/>
                <a:cs typeface="Arial" pitchFamily="34" charset="-120"/>
              </a:rPr>
              <a:t>[tool name]</a:t>
            </a:r>
            <a:endParaRPr lang="en-US" sz="2800" dirty="0"/>
          </a:p>
          <a:p>
            <a:pPr algn="l" indent="0" marL="0">
              <a:spcAft>
                <a:spcPts val="900"/>
              </a:spcAft>
              <a:buNone/>
            </a:pPr>
            <a:r>
              <a:rPr lang="en-US" sz="2800" b="1" dirty="0">
                <a:solidFill>
                  <a:srgbClr val="FF4FD8"/>
                </a:solidFill>
                <a:latin typeface="Arial" pitchFamily="34" charset="0"/>
                <a:ea typeface="Arial" pitchFamily="34" charset="-122"/>
                <a:cs typeface="Arial" pitchFamily="34" charset="-120"/>
              </a:rPr>
              <a:t>[Only if used]</a:t>
            </a:r>
            <a:pPr algn="l" indent="0" marL="0">
              <a:spcAft>
                <a:spcPts val="900"/>
              </a:spcAft>
              <a:buNone/>
            </a:pPr>
            <a:r>
              <a:rPr lang="en-US" sz="2800" dirty="0">
                <a:solidFill>
                  <a:srgbClr val="F5F5F7"/>
                </a:solidFill>
                <a:latin typeface="Arial" pitchFamily="34" charset="0"/>
                <a:ea typeface="Arial" pitchFamily="34" charset="-122"/>
                <a:cs typeface="Arial" pitchFamily="34" charset="-120"/>
              </a:rPr>
              <a:t> AI illustrations: Higgsfield</a:t>
            </a:r>
            <a:endParaRPr lang="en-US" sz="2800" dirty="0"/>
          </a:p>
          <a:p>
            <a:pPr algn="l" indent="0" marL="0">
              <a:spcAft>
                <a:spcPts val="900"/>
              </a:spcAft>
              <a:buNone/>
            </a:pPr>
            <a:r>
              <a:rPr lang="en-US" sz="2800" dirty="0">
                <a:solidFill>
                  <a:srgbClr val="F5F5F7"/>
                </a:solidFill>
                <a:latin typeface="Arial" pitchFamily="34" charset="0"/>
                <a:ea typeface="Arial" pitchFamily="34" charset="-122"/>
                <a:cs typeface="Arial" pitchFamily="34" charset="-120"/>
              </a:rPr>
              <a:t>Script and slides drafted with AI assistance (Claude, Claude Code) and edited by the team.</a:t>
            </a:r>
            <a:endParaRPr lang="en-US" sz="2800" dirty="0"/>
          </a:p>
          <a:p>
            <a:pPr algn="l" indent="0" marL="0">
              <a:spcAft>
                <a:spcPts val="900"/>
              </a:spcAft>
              <a:buNone/>
            </a:pPr>
            <a:r>
              <a:rPr lang="en-US" sz="2800" dirty="0">
                <a:solidFill>
                  <a:srgbClr val="B8C2D9"/>
                </a:solidFill>
                <a:latin typeface="Arial" pitchFamily="34" charset="0"/>
                <a:ea typeface="Arial" pitchFamily="34" charset="-122"/>
                <a:cs typeface="Arial" pitchFamily="34" charset="-120"/>
              </a:rPr>
              <a:t>Full credits in the video description.</a:t>
            </a:r>
            <a:endParaRPr lang="en-US" sz="2800" dirty="0"/>
          </a:p>
        </p:txBody>
      </p:sp>
    </p:spTree>
  </p:cSld>
  <p:clrMapOvr>
    <a:masterClrMapping/>
  </p:clrMapOvr>
  <p:transition spd="med" advClick="1" advTm="6000"/>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Team Polaris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 It Burn? concept video slides</dc:title>
  <dc:subject>NASA Space Apps 2026: Flame in Freefall</dc:subject>
  <dc:creator>Team Polaris</dc:creator>
  <cp:lastModifiedBy>Team Polaris</cp:lastModifiedBy>
  <cp:revision>1</cp:revision>
  <dcterms:created xsi:type="dcterms:W3CDTF">2026-09-28T17:51:18Z</dcterms:created>
  <dcterms:modified xsi:type="dcterms:W3CDTF">2026-09-28T17:51:18Z</dcterms:modified>
</cp:coreProperties>
</file>